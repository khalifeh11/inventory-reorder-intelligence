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82" r:id="rId18"/>
    <p:sldId id="28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8499"/>
    <p:restoredTop sz="94624"/>
  </p:normalViewPr>
  <p:slideViewPr>
    <p:cSldViewPr snapToGrid="0" snapToObjects="1">
      <p:cViewPr varScale="1">
        <p:scale>
          <a:sx n="73" d="100"/>
          <a:sy n="73" d="100"/>
        </p:scale>
        <p:origin x="216" y="100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6/2/26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822960" y="2560320"/>
            <a:ext cx="1097280" cy="73152"/>
          </a:xfrm>
          <a:prstGeom prst="rect">
            <a:avLst/>
          </a:prstGeom>
          <a:solidFill>
            <a:srgbClr val="E67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22960" y="2743200"/>
            <a:ext cx="10972800" cy="274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4400" b="1">
                <a:solidFill>
                  <a:srgbClr val="FFFFFF"/>
                </a:solidFill>
              </a:rPr>
              <a:t>AI Transformation Proposal</a:t>
            </a:r>
          </a:p>
          <a:p>
            <a:r>
              <a:rPr sz="2800">
                <a:solidFill>
                  <a:srgbClr val="E67E22"/>
                </a:solidFill>
              </a:rPr>
              <a:t>Inventory Reorder Intelligence</a:t>
            </a:r>
          </a:p>
          <a:p>
            <a:r>
              <a:rPr sz="2000">
                <a:solidFill>
                  <a:srgbClr val="F4F6F8"/>
                </a:solidFill>
              </a:rPr>
              <a:t>
Atlas Paints &amp; Tools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760720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F4F6F8"/>
                </a:solidFill>
              </a:rPr>
              <a:t>Submitted by: Karim Khalifeh</a:t>
            </a:r>
          </a:p>
          <a:p>
            <a:r>
              <a:rPr sz="1200">
                <a:solidFill>
                  <a:srgbClr val="F4F6F8"/>
                </a:solidFill>
              </a:rPr>
              <a:t>Program: ZAKA Certified AI Consultant  ·  April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822960"/>
            <a:ext cx="12191695" cy="45720"/>
          </a:xfrm>
          <a:prstGeom prst="rect">
            <a:avLst/>
          </a:prstGeom>
          <a:solidFill>
            <a:srgbClr val="E67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127729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FFFF"/>
                </a:solidFill>
              </a:rPr>
              <a:t>Outline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1280160"/>
            <a:ext cx="96012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000">
                <a:solidFill>
                  <a:srgbClr val="1F2A44"/>
                </a:solidFill>
              </a:rPr>
              <a:t>• Executive Overview</a:t>
            </a:r>
          </a:p>
          <a:p>
            <a:pPr>
              <a:spcAft>
                <a:spcPts val="400"/>
              </a:spcAft>
            </a:pPr>
            <a:r>
              <a:rPr sz="2000">
                <a:solidFill>
                  <a:srgbClr val="1F2A44"/>
                </a:solidFill>
              </a:rPr>
              <a:t>• Use Case Selection &amp; Scope</a:t>
            </a:r>
          </a:p>
          <a:p>
            <a:pPr>
              <a:spcAft>
                <a:spcPts val="400"/>
              </a:spcAft>
            </a:pPr>
            <a:r>
              <a:rPr sz="2000">
                <a:solidFill>
                  <a:srgbClr val="1F2A44"/>
                </a:solidFill>
              </a:rPr>
              <a:t>• Technical Architecture</a:t>
            </a:r>
          </a:p>
          <a:p>
            <a:pPr>
              <a:spcAft>
                <a:spcPts val="400"/>
              </a:spcAft>
            </a:pPr>
            <a:r>
              <a:rPr sz="2000">
                <a:solidFill>
                  <a:srgbClr val="1F2A44"/>
                </a:solidFill>
              </a:rPr>
              <a:t>• Commercial &amp; Pricing Considerations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92240"/>
            <a:ext cx="112772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A6A7A"/>
                </a:solidFill>
              </a:rPr>
              <a:t>Atlas Paints &amp; Tools — AI Transformation Proposal  ·  2/26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822960" y="2926080"/>
            <a:ext cx="1097280" cy="73152"/>
          </a:xfrm>
          <a:prstGeom prst="rect">
            <a:avLst/>
          </a:prstGeom>
          <a:solidFill>
            <a:srgbClr val="E67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22960" y="3108960"/>
            <a:ext cx="109728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4800" b="1">
                <a:solidFill>
                  <a:srgbClr val="FFFFFF"/>
                </a:solidFill>
              </a:rPr>
              <a:t>Executive Overview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822960"/>
            <a:ext cx="12191695" cy="45720"/>
          </a:xfrm>
          <a:prstGeom prst="rect">
            <a:avLst/>
          </a:prstGeom>
          <a:solidFill>
            <a:srgbClr val="E67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91440"/>
            <a:ext cx="1127729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FFFF"/>
                </a:solidFill>
              </a:rPr>
              <a:t>Executive Overview (1)</a:t>
            </a:r>
          </a:p>
          <a:p>
            <a:r>
              <a:rPr sz="1200">
                <a:solidFill>
                  <a:srgbClr val="F4F6F8"/>
                </a:solidFill>
              </a:rPr>
              <a:t>The problem Atlas is solving, and what this initiative delivers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74420"/>
            <a:ext cx="103327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dirty="0">
                <a:solidFill>
                  <a:srgbClr val="1F2A44"/>
                </a:solidFill>
              </a:rPr>
              <a:t>• Atlas Paints &amp; Tools — a family-owned Lebanese paint manufacturer and hardware / power-tools wholesaler — is losing revenue because procurement is reactive.</a:t>
            </a:r>
          </a:p>
          <a:p>
            <a:pPr>
              <a:spcAft>
                <a:spcPts val="400"/>
              </a:spcAft>
            </a:pPr>
            <a:r>
              <a:rPr sz="1400" dirty="0">
                <a:solidFill>
                  <a:srgbClr val="1F2A44"/>
                </a:solidFill>
              </a:rPr>
              <a:t>• Hardware imports are ordered only after a SKU hits zero, triggering stockouts that routinely last 2+ months (entire supplier lead time).</a:t>
            </a:r>
          </a:p>
          <a:p>
            <a:pPr>
              <a:spcAft>
                <a:spcPts val="400"/>
              </a:spcAft>
            </a:pPr>
            <a:r>
              <a:rPr sz="1400" dirty="0">
                <a:solidFill>
                  <a:srgbClr val="1F2A44"/>
                </a:solidFill>
              </a:rPr>
              <a:t>• In parallel, slow-moving items accumulate as deadstock because reorder points have never been formalized in the ERP.</a:t>
            </a:r>
          </a:p>
          <a:p>
            <a:pPr>
              <a:spcAft>
                <a:spcPts val="400"/>
              </a:spcAft>
            </a:pPr>
            <a:r>
              <a:rPr sz="1400" dirty="0">
                <a:solidFill>
                  <a:srgbClr val="1F2A44"/>
                </a:solidFill>
              </a:rPr>
              <a:t>• This proposal: Inventory Reorder Intelligence — a statistical forecasting + classical reorder-point system that turns 10+ years of existing ERP data into weekly reorder recommendations with plain-language explanations.</a:t>
            </a:r>
          </a:p>
          <a:p>
            <a:pPr>
              <a:spcAft>
                <a:spcPts val="400"/>
              </a:spcAft>
            </a:pPr>
            <a:r>
              <a:rPr sz="1400" dirty="0">
                <a:solidFill>
                  <a:srgbClr val="1F2A44"/>
                </a:solidFill>
              </a:rPr>
              <a:t>• Runs fully on-prem. No cloud dependency. No ML tooling. Matches Atlas's unreliable internet and zero-budget reality.</a:t>
            </a:r>
          </a:p>
          <a:p>
            <a:pPr>
              <a:spcAft>
                <a:spcPts val="400"/>
              </a:spcAft>
            </a:pPr>
            <a:r>
              <a:rPr sz="1400" dirty="0">
                <a:solidFill>
                  <a:srgbClr val="1F2A44"/>
                </a:solidFill>
              </a:rPr>
              <a:t>• Human-in-the-loop: the system recommends; the GM and procurement approve; the existing manual PO workflow continues unchanged.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92240"/>
            <a:ext cx="112772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A6A7A"/>
                </a:solidFill>
              </a:rPr>
              <a:t>Atlas Paints &amp; Tools — AI Transformation Proposal  ·  4/26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822960"/>
            <a:ext cx="12191695" cy="45720"/>
          </a:xfrm>
          <a:prstGeom prst="rect">
            <a:avLst/>
          </a:prstGeom>
          <a:solidFill>
            <a:srgbClr val="E67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127729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FFFF"/>
                </a:solidFill>
              </a:rPr>
              <a:t>Executive Overview (2)</a:t>
            </a:r>
          </a:p>
          <a:p>
            <a:r>
              <a:rPr sz="1200">
                <a:solidFill>
                  <a:srgbClr val="F4F6F8"/>
                </a:solidFill>
              </a:rPr>
              <a:t>Priority Initiative — the top Business Impact × Feasibility candidate in the roadmap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280160"/>
          <a:ext cx="1106424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80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6880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6880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85216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Lever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Current state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Target with this initiative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85216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Stockout duration on import SKUs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~2 months (full lead time)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&lt;2 weeks on &gt;80% of events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85216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Deadstock tied in slow-movers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not on a dashboard; ~20–30% from GM discovery (measurable from QTY_ONHAND + QOUT history)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reduce 30–50% in year 1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85216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Procurement decisions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reactive, discovered via stockout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1 review cycle / week, proactive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85216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Inventory working-capital visibility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general ledger only — no SKU-level coverage / deadstock / forecast view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weekly dashboard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4480560"/>
            <a:ext cx="110642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1F2A44"/>
                </a:solidFill>
              </a:rPr>
              <a:t>Selected from the 2nd-deliverable roadmap as the top Phase-2 initiative — Business Impact 3.8 / Feasibility 3.8 (the 'Priority Initiative' quadrant).</a:t>
            </a:r>
          </a:p>
          <a:p>
            <a:r>
              <a:rPr sz="1100" i="1">
                <a:solidFill>
                  <a:srgbClr val="5A6A7A"/>
                </a:solidFill>
              </a:rPr>
              <a:t>Figures above are illustrative ranges, not commitments. Year-1 gains depend on execution plus the Phase 0 inventory-accuracy prerequisite.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92240"/>
            <a:ext cx="112772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A6A7A"/>
                </a:solidFill>
              </a:rPr>
              <a:t>Atlas Paints &amp; Tools — AI Transformation Proposal  ·  5/26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822960" y="2926080"/>
            <a:ext cx="1097280" cy="73152"/>
          </a:xfrm>
          <a:prstGeom prst="rect">
            <a:avLst/>
          </a:prstGeom>
          <a:solidFill>
            <a:srgbClr val="E67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22960" y="3108960"/>
            <a:ext cx="109728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4800" b="1">
                <a:solidFill>
                  <a:srgbClr val="FFFFFF"/>
                </a:solidFill>
              </a:rPr>
              <a:t>Use Case Selection &amp; Scope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822960"/>
            <a:ext cx="12191695" cy="45720"/>
          </a:xfrm>
          <a:prstGeom prst="rect">
            <a:avLst/>
          </a:prstGeom>
          <a:solidFill>
            <a:srgbClr val="E67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127729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FFFF"/>
                </a:solidFill>
              </a:rPr>
              <a:t>Use Case Selection (1)</a:t>
            </a:r>
          </a:p>
          <a:p>
            <a:r>
              <a:rPr sz="1200">
                <a:solidFill>
                  <a:srgbClr val="F4F6F8"/>
                </a:solidFill>
              </a:rPr>
              <a:t>Prioritization matrix — why Use Case B was chosen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188720"/>
          <a:ext cx="1124712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4942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4942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24942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24942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24942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54864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#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Use Case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Impact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Feasibility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Quadrant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Production Planning &amp; Cost Optimization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3.8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3.0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Strategic Bet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B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Inventory Reorder Intelligence  ← selected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3.8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3.8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Priority Initiative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Customer Profitability Analysis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2.4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4.8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Quick Win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D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Pricing Optimization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2.6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4.6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Quick Win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Sales Forecasting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2.6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3.8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Quick Win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4754880"/>
            <a:ext cx="1115568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>
                <a:solidFill>
                  <a:srgbClr val="1F2A44"/>
                </a:solidFill>
              </a:rPr>
              <a:t>B is the single best impact-per-effort candidate in Atlas's portfolio and the first initiative in the roadmap where the deliverable is a working planning system — a step up from the dashboard-grade Quick Wins (C, D) that precede it.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92240"/>
            <a:ext cx="112772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A6A7A"/>
                </a:solidFill>
              </a:rPr>
              <a:t>Atlas Paints &amp; Tools — AI Transformation Proposal  ·  7/26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822960"/>
            <a:ext cx="12191695" cy="45720"/>
          </a:xfrm>
          <a:prstGeom prst="rect">
            <a:avLst/>
          </a:prstGeom>
          <a:solidFill>
            <a:srgbClr val="E67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127729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FFFF"/>
                </a:solidFill>
              </a:rPr>
              <a:t>Use Case Selection (2)</a:t>
            </a:r>
          </a:p>
          <a:p>
            <a:r>
              <a:rPr sz="1200">
                <a:solidFill>
                  <a:srgbClr val="F4F6F8"/>
                </a:solidFill>
              </a:rPr>
              <a:t>Justification — why this works for Atlas specifically, right now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325880"/>
            <a:ext cx="1069848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dirty="0">
                <a:solidFill>
                  <a:srgbClr val="1F2A44"/>
                </a:solidFill>
              </a:rPr>
              <a:t>• Pain is concrete and measurable. 2-month stockouts and deadstock accumulation were surfaced by the GM during 1st-deliverable discovery — they translate directly into lost sales and tied-up working capital.</a:t>
            </a:r>
          </a:p>
          <a:p>
            <a:pPr>
              <a:spcAft>
                <a:spcPts val="400"/>
              </a:spcAft>
            </a:pPr>
            <a:r>
              <a:rPr sz="1400" dirty="0">
                <a:solidFill>
                  <a:srgbClr val="1F2A44"/>
                </a:solidFill>
              </a:rPr>
              <a:t>• Data exists and is clean. 10+ years of sales, BOM, POs and inventory snapshots are already in the ERP and SQL-accessible. Lead times are known per supplier.</a:t>
            </a:r>
          </a:p>
          <a:p>
            <a:pPr>
              <a:spcAft>
                <a:spcPts val="400"/>
              </a:spcAft>
            </a:pPr>
            <a:r>
              <a:rPr sz="1400" dirty="0">
                <a:solidFill>
                  <a:srgbClr val="1F2A44"/>
                </a:solidFill>
              </a:rPr>
              <a:t>• Technique is mature and transparent. Classical reorder-point + safety stock has been the inventory-theory standard since the 1950s — no black box, which matters for a company with zero AI experience and no internal data team.</a:t>
            </a:r>
          </a:p>
          <a:p>
            <a:pPr>
              <a:spcAft>
                <a:spcPts val="400"/>
              </a:spcAft>
            </a:pPr>
            <a:r>
              <a:rPr sz="1400" dirty="0">
                <a:solidFill>
                  <a:srgbClr val="1F2A44"/>
                </a:solidFill>
              </a:rPr>
              <a:t>• Phase 0 is already scheduled. Inventory-accuracy cycle counting + populating reorder-point fields in the ERP is the named Phase 0 in the roadmap; this initiative consumes that output directly.</a:t>
            </a:r>
          </a:p>
          <a:p>
            <a:pPr>
              <a:spcAft>
                <a:spcPts val="400"/>
              </a:spcAft>
            </a:pPr>
            <a:r>
              <a:rPr sz="1400" dirty="0">
                <a:solidFill>
                  <a:srgbClr val="1F2A44"/>
                </a:solidFill>
              </a:rPr>
              <a:t>• Organizational fit. 16-person company, direct-decision-maker GM — a weekly review cadence is realistic from week one with no multi-layer change management.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92240"/>
            <a:ext cx="112772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A6A7A"/>
                </a:solidFill>
              </a:rPr>
              <a:t>Atlas Paints &amp; Tools — AI Transformation Proposal  ·  8/26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822960"/>
            <a:ext cx="12191695" cy="45720"/>
          </a:xfrm>
          <a:prstGeom prst="rect">
            <a:avLst/>
          </a:prstGeom>
          <a:solidFill>
            <a:srgbClr val="E67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127729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FFFF"/>
                </a:solidFill>
              </a:rPr>
              <a:t>Business Objective</a:t>
            </a:r>
          </a:p>
          <a:p>
            <a:r>
              <a:rPr sz="1200">
                <a:solidFill>
                  <a:srgbClr val="F4F6F8"/>
                </a:solidFill>
              </a:rPr>
              <a:t>What the Monday-morning workflow looks like, and the dual value lever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548640"/>
            <a:ext cx="57607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1F2A44"/>
                </a:solidFill>
              </a:rPr>
              <a:t>Target-state workflow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05840"/>
            <a:ext cx="576072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dirty="0">
                <a:solidFill>
                  <a:srgbClr val="1F2A44"/>
                </a:solidFill>
              </a:rPr>
              <a:t>• Every Monday, GM + procurement open a local dashboard.</a:t>
            </a:r>
          </a:p>
          <a:p>
            <a:pPr>
              <a:spcAft>
                <a:spcPts val="400"/>
              </a:spcAft>
            </a:pPr>
            <a:r>
              <a:rPr sz="1400" dirty="0">
                <a:solidFill>
                  <a:srgbClr val="1F2A44"/>
                </a:solidFill>
              </a:rPr>
              <a:t>• AI briefing up top: which few orders truly matter now, what to defer, where to consolidate by supplier.</a:t>
            </a:r>
          </a:p>
          <a:p>
            <a:pPr>
              <a:spcAft>
                <a:spcPts val="400"/>
              </a:spcAft>
            </a:pPr>
            <a:r>
              <a:rPr sz="1400" dirty="0">
                <a:solidFill>
                  <a:srgbClr val="1F2A44"/>
                </a:solidFill>
              </a:rPr>
              <a:t>• SKUs to reorder this week — ranked by stockout risk and PO value.</a:t>
            </a:r>
          </a:p>
          <a:p>
            <a:pPr>
              <a:spcAft>
                <a:spcPts val="400"/>
              </a:spcAft>
            </a:pPr>
            <a:r>
              <a:rPr sz="1400" dirty="0">
                <a:solidFill>
                  <a:srgbClr val="1F2A44"/>
                </a:solidFill>
              </a:rPr>
              <a:t>• Why each SKU — plain-language 2–3 sentence explanation.</a:t>
            </a:r>
          </a:p>
          <a:p>
            <a:pPr>
              <a:spcAft>
                <a:spcPts val="400"/>
              </a:spcAft>
            </a:pPr>
            <a:r>
              <a:rPr sz="1400" dirty="0">
                <a:solidFill>
                  <a:srgbClr val="1F2A44"/>
                </a:solidFill>
              </a:rPr>
              <a:t>• Suggested order qty, expected arrival date, total PO value.</a:t>
            </a:r>
          </a:p>
          <a:p>
            <a:pPr>
              <a:spcAft>
                <a:spcPts val="400"/>
              </a:spcAft>
            </a:pPr>
            <a:r>
              <a:rPr sz="1400" dirty="0">
                <a:solidFill>
                  <a:srgbClr val="1F2A44"/>
                </a:solidFill>
              </a:rPr>
              <a:t>• Drill-down: 10-yr history + forward forecast per SKU.</a:t>
            </a:r>
          </a:p>
          <a:p>
            <a:pPr>
              <a:spcAft>
                <a:spcPts val="400"/>
              </a:spcAft>
            </a:pPr>
            <a:r>
              <a:rPr sz="1400" dirty="0">
                <a:solidFill>
                  <a:srgbClr val="1F2A44"/>
                </a:solidFill>
              </a:rPr>
              <a:t>• Procurement reviews, approves (or edits), sends POs through the existing manual channel.</a:t>
            </a:r>
          </a:p>
          <a:p>
            <a:pPr>
              <a:spcAft>
                <a:spcPts val="400"/>
              </a:spcAft>
            </a:pPr>
            <a:r>
              <a:rPr sz="1400" dirty="0">
                <a:solidFill>
                  <a:srgbClr val="1F2A44"/>
                </a:solidFill>
              </a:rPr>
              <a:t>• Monthly: accuracy review + service-level tuning per SKU segment.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92240" y="1097280"/>
            <a:ext cx="5303520" cy="5303520"/>
          </a:xfrm>
          <a:prstGeom prst="roundRect">
            <a:avLst/>
          </a:prstGeom>
          <a:solidFill>
            <a:srgbClr val="F4F6F8"/>
          </a:solidFill>
          <a:ln w="15875">
            <a:solidFill>
              <a:srgbClr val="E67E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858000" y="1435608"/>
            <a:ext cx="4658810" cy="233910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 dirty="0">
                <a:solidFill>
                  <a:srgbClr val="1F2A44"/>
                </a:solidFill>
              </a:rPr>
              <a:t>DUAL VALUE LEVER</a:t>
            </a:r>
          </a:p>
          <a:p>
            <a:r>
              <a:rPr sz="1100" dirty="0">
                <a:solidFill>
                  <a:srgbClr val="5A6A7A"/>
                </a:solidFill>
              </a:rPr>
              <a:t>1. AVOID REVENUE LOSS
   Prevent stockouts on hardware imports — the primary revenue category — where a SKU at zero means B2B customers buy from competitors for 2 months.
2. RELEASE WORKING CAPITAL
   Stop over-ordering slow-movers. Coverage-days become visible; deadstock surfaces for the first time.
This combined effect is typically the largest single P&amp;L move a small wholesaler can make — even with a basic statistical baseline. 2nd-deliverable Business Impact score: 3.8 / 5.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112772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A6A7A"/>
                </a:solidFill>
              </a:rPr>
              <a:t>Atlas Paints &amp; Tools — AI Transformation Proposal  ·  9/26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822960"/>
            <a:ext cx="12191695" cy="45720"/>
          </a:xfrm>
          <a:prstGeom prst="rect">
            <a:avLst/>
          </a:prstGeom>
          <a:solidFill>
            <a:srgbClr val="E67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127729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FFFF"/>
                </a:solidFill>
              </a:rPr>
              <a:t>In Scope Boundaries</a:t>
            </a:r>
          </a:p>
          <a:p>
            <a:r>
              <a:rPr sz="1200">
                <a:solidFill>
                  <a:srgbClr val="F4F6F8"/>
                </a:solidFill>
              </a:rPr>
              <a:t>What this initiative will deliver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88720"/>
            <a:ext cx="1069848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dirty="0">
                <a:solidFill>
                  <a:srgbClr val="1F2A44"/>
                </a:solidFill>
              </a:rPr>
              <a:t>• Weekly reorder recommendations for active paint + hardware SKUs (~200–500, subject to S2 velocity analysis; ERP Stock master holds 18,533 records incl. raw materials / packaging / discontinued).</a:t>
            </a:r>
          </a:p>
          <a:p>
            <a:pPr>
              <a:spcAft>
                <a:spcPts val="400"/>
              </a:spcAft>
            </a:pPr>
            <a:r>
              <a:rPr sz="1400" dirty="0">
                <a:solidFill>
                  <a:srgbClr val="1F2A44"/>
                </a:solidFill>
              </a:rPr>
              <a:t>• Forecast horizon = supplier lead time + review period (typically 7–75 days per SKU).</a:t>
            </a:r>
          </a:p>
          <a:p>
            <a:pPr>
              <a:spcAft>
                <a:spcPts val="400"/>
              </a:spcAft>
            </a:pPr>
            <a:r>
              <a:rPr sz="1400" dirty="0">
                <a:solidFill>
                  <a:srgbClr val="1F2A44"/>
                </a:solidFill>
              </a:rPr>
              <a:t>• Human sign-off UI: GM / procurement lead reviews and approves recommendations before any PO is sent.</a:t>
            </a:r>
          </a:p>
          <a:p>
            <a:pPr>
              <a:spcAft>
                <a:spcPts val="400"/>
              </a:spcAft>
            </a:pPr>
            <a:r>
              <a:rPr sz="1400" dirty="0">
                <a:solidFill>
                  <a:srgbClr val="1F2A44"/>
                </a:solidFill>
              </a:rPr>
              <a:t>• Weekly AI briefing (triage + supplier consolidation) + plain-language 'why' per recommendation (LLM-generated, grounding-checked; offline template fallback).</a:t>
            </a:r>
          </a:p>
          <a:p>
            <a:pPr>
              <a:spcAft>
                <a:spcPts val="400"/>
              </a:spcAft>
            </a:pPr>
            <a:r>
              <a:rPr sz="1400" dirty="0">
                <a:solidFill>
                  <a:srgbClr val="1F2A44"/>
                </a:solidFill>
              </a:rPr>
              <a:t>• </a:t>
            </a:r>
            <a:r>
              <a:rPr sz="1400" dirty="0" err="1">
                <a:solidFill>
                  <a:srgbClr val="1F2A44"/>
                </a:solidFill>
              </a:rPr>
              <a:t>Backtest</a:t>
            </a:r>
            <a:r>
              <a:rPr sz="1400" dirty="0">
                <a:solidFill>
                  <a:srgbClr val="1F2A44"/>
                </a:solidFill>
              </a:rPr>
              <a:t> MAPE + stockout-days tracking dashboard for continuous improvement.</a:t>
            </a:r>
          </a:p>
          <a:p>
            <a:pPr>
              <a:spcAft>
                <a:spcPts val="400"/>
              </a:spcAft>
            </a:pPr>
            <a:r>
              <a:rPr sz="1400" dirty="0">
                <a:solidFill>
                  <a:srgbClr val="1F2A44"/>
                </a:solidFill>
              </a:rPr>
              <a:t>• Runs on the existing on-prem server — no cloud dependency; LAN-only browser access.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92240"/>
            <a:ext cx="112772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A6A7A"/>
                </a:solidFill>
              </a:rPr>
              <a:t>Atlas Paints &amp; Tools — AI Transformation Proposal  ·  10/26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822960"/>
            <a:ext cx="12191695" cy="45720"/>
          </a:xfrm>
          <a:prstGeom prst="rect">
            <a:avLst/>
          </a:prstGeom>
          <a:solidFill>
            <a:srgbClr val="E67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127729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FFFF"/>
                </a:solidFill>
              </a:rPr>
              <a:t>Out of Scope Boundaries</a:t>
            </a:r>
          </a:p>
          <a:p>
            <a:r>
              <a:rPr sz="1200">
                <a:solidFill>
                  <a:srgbClr val="F4F6F8"/>
                </a:solidFill>
              </a:rPr>
              <a:t>What is explicitly excluded — to protect scope and timeline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255043"/>
            <a:ext cx="1069848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dirty="0">
                <a:solidFill>
                  <a:srgbClr val="1F2A44"/>
                </a:solidFill>
              </a:rPr>
              <a:t>• Direct EDI / API integration with suppliers. Manual PO placement through the existing workflow continues.</a:t>
            </a:r>
          </a:p>
          <a:p>
            <a:pPr>
              <a:spcAft>
                <a:spcPts val="400"/>
              </a:spcAft>
            </a:pPr>
            <a:r>
              <a:rPr sz="1400" dirty="0">
                <a:solidFill>
                  <a:srgbClr val="1F2A44"/>
                </a:solidFill>
              </a:rPr>
              <a:t>• Multi-location inventory balancing. Atlas is single-location for the SKUs in scope.</a:t>
            </a:r>
          </a:p>
          <a:p>
            <a:pPr>
              <a:spcAft>
                <a:spcPts val="400"/>
              </a:spcAft>
            </a:pPr>
            <a:r>
              <a:rPr sz="1400" dirty="0">
                <a:solidFill>
                  <a:srgbClr val="1F2A44"/>
                </a:solidFill>
              </a:rPr>
              <a:t>• Production scheduling. That is Phase 3 (Use Case A); this initiative feeds it but does not solve it.</a:t>
            </a:r>
          </a:p>
          <a:p>
            <a:pPr>
              <a:spcAft>
                <a:spcPts val="400"/>
              </a:spcAft>
            </a:pPr>
            <a:r>
              <a:rPr sz="1400" dirty="0">
                <a:solidFill>
                  <a:srgbClr val="1F2A44"/>
                </a:solidFill>
              </a:rPr>
              <a:t>• ML models beyond the statistical baseline (Croston, TSB, Prophet, etc.) — queued as Phase 2.5 if the baseline underperforms on specific SKU segments.</a:t>
            </a:r>
          </a:p>
          <a:p>
            <a:pPr>
              <a:spcAft>
                <a:spcPts val="400"/>
              </a:spcAft>
            </a:pPr>
            <a:r>
              <a:rPr sz="1400" dirty="0">
                <a:solidFill>
                  <a:srgbClr val="1F2A44"/>
                </a:solidFill>
              </a:rPr>
              <a:t>• Automated PO placement. No machine action against supplier systems in this phase.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92240"/>
            <a:ext cx="112772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A6A7A"/>
                </a:solidFill>
              </a:rPr>
              <a:t>Atlas Paints &amp; Tools — AI Transformation Proposal  ·  11/26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822960"/>
            <a:ext cx="12191695" cy="45720"/>
          </a:xfrm>
          <a:prstGeom prst="rect">
            <a:avLst/>
          </a:prstGeom>
          <a:solidFill>
            <a:srgbClr val="E67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127729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FFFF"/>
                </a:solidFill>
              </a:rPr>
              <a:t>Appropriate AI Approach</a:t>
            </a:r>
          </a:p>
          <a:p>
            <a:r>
              <a:rPr sz="1200">
                <a:solidFill>
                  <a:srgbClr val="F4F6F8"/>
                </a:solidFill>
              </a:rPr>
              <a:t>Statistical forecasting + classical ROP + bounded LLM layer (weekly briefing + explanations)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548640"/>
            <a:ext cx="5669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1F2A44"/>
                </a:solidFill>
              </a:rPr>
              <a:t>The approach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26567" y="1085705"/>
            <a:ext cx="5669280" cy="28418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dirty="0">
                <a:solidFill>
                  <a:srgbClr val="1F2A44"/>
                </a:solidFill>
              </a:rPr>
              <a:t>• Forecast: moving average + multiplicative monthly seasonality, per SKU.</a:t>
            </a:r>
          </a:p>
          <a:p>
            <a:pPr lvl="1">
              <a:spcAft>
                <a:spcPts val="400"/>
              </a:spcAft>
            </a:pPr>
            <a:r>
              <a:rPr sz="1000" dirty="0">
                <a:solidFill>
                  <a:srgbClr val="5A6A7A"/>
                </a:solidFill>
              </a:rPr>
              <a:t>– we learn each SKU's normal monthly rhythm and project it forward.</a:t>
            </a:r>
          </a:p>
          <a:p>
            <a:pPr>
              <a:spcAft>
                <a:spcPts val="400"/>
              </a:spcAft>
            </a:pPr>
            <a:r>
              <a:rPr sz="1200" dirty="0">
                <a:solidFill>
                  <a:srgbClr val="1F2A44"/>
                </a:solidFill>
              </a:rPr>
              <a:t>• </a:t>
            </a:r>
            <a:r>
              <a:rPr sz="1200" dirty="0" err="1">
                <a:solidFill>
                  <a:srgbClr val="1F2A44"/>
                </a:solidFill>
              </a:rPr>
              <a:t>Deseasonalize</a:t>
            </a:r>
            <a:r>
              <a:rPr sz="1200" dirty="0">
                <a:solidFill>
                  <a:srgbClr val="1F2A44"/>
                </a:solidFill>
              </a:rPr>
              <a:t> trailing 180 days → baseline daily demand; reinflate over horizon.</a:t>
            </a:r>
          </a:p>
          <a:p>
            <a:pPr lvl="1">
              <a:spcAft>
                <a:spcPts val="400"/>
              </a:spcAft>
            </a:pPr>
            <a:r>
              <a:rPr sz="1000" dirty="0">
                <a:solidFill>
                  <a:srgbClr val="5A6A7A"/>
                </a:solidFill>
              </a:rPr>
              <a:t>– strip out the seasonal bump to see true baseline, then add it back for the forecast month.</a:t>
            </a:r>
          </a:p>
          <a:p>
            <a:pPr>
              <a:spcAft>
                <a:spcPts val="400"/>
              </a:spcAft>
            </a:pPr>
            <a:r>
              <a:rPr sz="1200" dirty="0">
                <a:solidFill>
                  <a:srgbClr val="1F2A44"/>
                </a:solidFill>
              </a:rPr>
              <a:t>• Reorder: ROP = </a:t>
            </a:r>
            <a:r>
              <a:rPr sz="1200" dirty="0" err="1">
                <a:solidFill>
                  <a:srgbClr val="1F2A44"/>
                </a:solidFill>
              </a:rPr>
              <a:t>avg_daily_demand</a:t>
            </a:r>
            <a:r>
              <a:rPr sz="1200" dirty="0">
                <a:solidFill>
                  <a:srgbClr val="1F2A44"/>
                </a:solidFill>
              </a:rPr>
              <a:t> × </a:t>
            </a:r>
            <a:r>
              <a:rPr sz="1200" dirty="0" err="1">
                <a:solidFill>
                  <a:srgbClr val="1F2A44"/>
                </a:solidFill>
              </a:rPr>
              <a:t>lead_time</a:t>
            </a:r>
            <a:r>
              <a:rPr sz="1200" dirty="0">
                <a:solidFill>
                  <a:srgbClr val="1F2A44"/>
                </a:solidFill>
              </a:rPr>
              <a:t> + </a:t>
            </a:r>
            <a:r>
              <a:rPr sz="1200" dirty="0" err="1">
                <a:solidFill>
                  <a:srgbClr val="1F2A44"/>
                </a:solidFill>
              </a:rPr>
              <a:t>safety_stock</a:t>
            </a:r>
            <a:r>
              <a:rPr sz="1200" dirty="0">
                <a:solidFill>
                  <a:srgbClr val="1F2A44"/>
                </a:solidFill>
              </a:rPr>
              <a:t>.</a:t>
            </a:r>
          </a:p>
          <a:p>
            <a:pPr lvl="1">
              <a:spcAft>
                <a:spcPts val="400"/>
              </a:spcAft>
            </a:pPr>
            <a:r>
              <a:rPr sz="1000" dirty="0">
                <a:solidFill>
                  <a:srgbClr val="5A6A7A"/>
                </a:solidFill>
              </a:rPr>
              <a:t>– order when stock drops below what you'll sell during the wait + a buffer.</a:t>
            </a:r>
          </a:p>
          <a:p>
            <a:pPr>
              <a:spcAft>
                <a:spcPts val="400"/>
              </a:spcAft>
            </a:pPr>
            <a:r>
              <a:rPr sz="1200" dirty="0">
                <a:solidFill>
                  <a:srgbClr val="1F2A44"/>
                </a:solidFill>
              </a:rPr>
              <a:t>• Buffer: </a:t>
            </a:r>
            <a:r>
              <a:rPr sz="1200" dirty="0" err="1">
                <a:solidFill>
                  <a:srgbClr val="1F2A44"/>
                </a:solidFill>
              </a:rPr>
              <a:t>safety_stock</a:t>
            </a:r>
            <a:r>
              <a:rPr sz="1200" dirty="0">
                <a:solidFill>
                  <a:srgbClr val="1F2A44"/>
                </a:solidFill>
              </a:rPr>
              <a:t> = z(SL) × </a:t>
            </a:r>
            <a:r>
              <a:rPr sz="1200" dirty="0" err="1">
                <a:solidFill>
                  <a:srgbClr val="1F2A44"/>
                </a:solidFill>
              </a:rPr>
              <a:t>σ</a:t>
            </a:r>
            <a:r>
              <a:rPr sz="1200" dirty="0">
                <a:solidFill>
                  <a:srgbClr val="1F2A44"/>
                </a:solidFill>
              </a:rPr>
              <a:t> × √LT.</a:t>
            </a:r>
          </a:p>
          <a:p>
            <a:pPr lvl="1">
              <a:spcAft>
                <a:spcPts val="400"/>
              </a:spcAft>
            </a:pPr>
            <a:r>
              <a:rPr sz="1000" dirty="0">
                <a:solidFill>
                  <a:srgbClr val="5A6A7A"/>
                </a:solidFill>
              </a:rPr>
              <a:t>– the noisier the demand or the longer the wait, the more buffer you hold.</a:t>
            </a:r>
          </a:p>
          <a:p>
            <a:pPr>
              <a:spcAft>
                <a:spcPts val="400"/>
              </a:spcAft>
            </a:pPr>
            <a:r>
              <a:rPr sz="1200" dirty="0">
                <a:solidFill>
                  <a:srgbClr val="1F2A44"/>
                </a:solidFill>
              </a:rPr>
              <a:t>• Defaults: service level 95% (z ≈ 1.645), review period 14 days.</a:t>
            </a:r>
          </a:p>
          <a:p>
            <a:pPr lvl="1">
              <a:spcAft>
                <a:spcPts val="400"/>
              </a:spcAft>
            </a:pPr>
            <a:r>
              <a:rPr sz="1000" dirty="0">
                <a:solidFill>
                  <a:srgbClr val="5A6A7A"/>
                </a:solidFill>
              </a:rPr>
              <a:t>– accept stockout on 1 review cycle in 20; revisit each SKU every 2 weeks.</a:t>
            </a:r>
          </a:p>
          <a:p>
            <a:pPr>
              <a:spcAft>
                <a:spcPts val="400"/>
              </a:spcAft>
            </a:pPr>
            <a:r>
              <a:rPr sz="1200" dirty="0">
                <a:solidFill>
                  <a:srgbClr val="1F2A44"/>
                </a:solidFill>
              </a:rPr>
              <a:t>• LLM layer (Claude Haiku): weekly triage briefing + per-SKU 'why'.</a:t>
            </a:r>
          </a:p>
          <a:p>
            <a:pPr lvl="1">
              <a:spcAft>
                <a:spcPts val="400"/>
              </a:spcAft>
            </a:pPr>
            <a:r>
              <a:rPr sz="1000" dirty="0">
                <a:solidFill>
                  <a:srgbClr val="5A6A7A"/>
                </a:solidFill>
              </a:rPr>
              <a:t>– </a:t>
            </a:r>
            <a:r>
              <a:rPr sz="1000" dirty="0" err="1">
                <a:solidFill>
                  <a:srgbClr val="5A6A7A"/>
                </a:solidFill>
              </a:rPr>
              <a:t>synthesises</a:t>
            </a:r>
            <a:r>
              <a:rPr sz="1000" dirty="0">
                <a:solidFill>
                  <a:srgbClr val="5A6A7A"/>
                </a:solidFill>
              </a:rPr>
              <a:t> act-now / defer / consolidate; a grounding check rejects any invented figure → template fallback.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0" y="1097280"/>
            <a:ext cx="5394960" cy="5303520"/>
          </a:xfrm>
          <a:prstGeom prst="roundRect">
            <a:avLst/>
          </a:prstGeom>
          <a:solidFill>
            <a:srgbClr val="F4F6F8"/>
          </a:solidFill>
          <a:ln w="15875">
            <a:solidFill>
              <a:srgbClr val="E67E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766560" y="1435608"/>
            <a:ext cx="4565055" cy="249299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 dirty="0">
                <a:solidFill>
                  <a:srgbClr val="1F2A44"/>
                </a:solidFill>
              </a:rPr>
              <a:t>WHY NOT A FULL ML / AGENT SOLUTION</a:t>
            </a:r>
          </a:p>
          <a:p>
            <a:r>
              <a:rPr sz="1100" dirty="0">
                <a:solidFill>
                  <a:srgbClr val="5A6A7A"/>
                </a:solidFill>
              </a:rPr>
              <a:t>• Start with a transparent baseline the business understands — ML is a Phase 2.5 upgrade path if specific SKU segments underperform.
• A conversational agent over the ERP (text-to-SQL, multi-step reasoning) is over-scoped: Atlas has no team to maintain a production LLM pipeline, connectivity is unreliable, and the GM's question pattern is narrow ('what do I order this week?') — a dashboard answers it directly.
• The bounded LLM layer adds genuine value — it triages the weekly batch (which orders matter, what to defer, where to consolidate by supplier) and explains each call in plain language — without creating an operational dependency Atlas cannot support. A grounding check keeps it from inventing figures.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112772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A6A7A"/>
                </a:solidFill>
              </a:rPr>
              <a:t>Atlas Paints &amp; Tools — AI Transformation Proposal  ·  12/26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822960"/>
            <a:ext cx="12191695" cy="45720"/>
          </a:xfrm>
          <a:prstGeom prst="rect">
            <a:avLst/>
          </a:prstGeom>
          <a:solidFill>
            <a:srgbClr val="E67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127729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FFFF"/>
                </a:solidFill>
              </a:rPr>
              <a:t>Data Readiness and Constraints</a:t>
            </a:r>
          </a:p>
          <a:p>
            <a:r>
              <a:rPr sz="1200">
                <a:solidFill>
                  <a:srgbClr val="F4F6F8"/>
                </a:solidFill>
              </a:rPr>
              <a:t>Five ERP tables, no PII, no external data — all on-prem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05840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i="1">
                <a:solidFill>
                  <a:srgbClr val="1F2A44"/>
                </a:solidFill>
              </a:rPr>
              <a:t>Five ERP tables already owned by Atlas — a decade of data, no new collection needed.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371600"/>
          <a:ext cx="1124712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490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7490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7490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Table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Role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Key columns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products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Catalogue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sku_id, name, category, unit_cost, lead_time_days, supplier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sales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10+ yr demand history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sale_date, sku_id, quantity, unit_price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inventory_snapshots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On-hand, historical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snapshot_date, sku_id, on_hand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purchase_orders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Open + historical POs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sku_id, order_date, eta_date, received_date, qty, status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bom (future)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For Phase 3 production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not used in this initiative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3657600"/>
            <a:ext cx="112471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1F2A44"/>
                </a:solidFill>
              </a:rPr>
              <a:t>Real-ERP mapping for S1: </a:t>
            </a:r>
            <a:r>
              <a:rPr sz="1000" i="1">
                <a:solidFill>
                  <a:srgbClr val="5A6A7A"/>
                </a:solidFill>
              </a:rPr>
              <a:t>products→Stock (18,533 rows; QTY_ONHAND, MINIMUMQTY, ORDER_TIME, SUPPLIER). sales→Invoice (167,199) + Invod (959,200) filtered Type='Sale'. inventory_snapshots→derived from Invod.QIN/QOUT history (weekly snapshots materialised in S1). purchase_orders→Invoice Type='Purchase' / prefix PU00. bom→Asm (91,170).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749800"/>
            <a:ext cx="11252200" cy="304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1F2A44"/>
                </a:solidFill>
              </a:rPr>
              <a:t>Data posture + constraints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080000"/>
            <a:ext cx="11252200" cy="1333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dirty="0">
                <a:solidFill>
                  <a:srgbClr val="1F2A44"/>
                </a:solidFill>
              </a:rPr>
              <a:t>• No PII. Product + supplier data only; customer data is not touched by this initiative.</a:t>
            </a:r>
          </a:p>
          <a:p>
            <a:pPr>
              <a:spcAft>
                <a:spcPts val="400"/>
              </a:spcAft>
            </a:pPr>
            <a:r>
              <a:rPr sz="1100" dirty="0">
                <a:solidFill>
                  <a:srgbClr val="1F2A44"/>
                </a:solidFill>
              </a:rPr>
              <a:t>• On-prem SQL-only ERP with 10+ years of history — enough signal for statistical forecasting.</a:t>
            </a:r>
          </a:p>
          <a:p>
            <a:pPr>
              <a:spcAft>
                <a:spcPts val="400"/>
              </a:spcAft>
            </a:pPr>
            <a:r>
              <a:rPr sz="1100" dirty="0">
                <a:solidFill>
                  <a:srgbClr val="1F2A44"/>
                </a:solidFill>
              </a:rPr>
              <a:t>• Constraints: unreliable internet, zero cloud budget, no internal IT / data team.</a:t>
            </a:r>
          </a:p>
          <a:p>
            <a:pPr>
              <a:spcAft>
                <a:spcPts val="400"/>
              </a:spcAft>
            </a:pPr>
            <a:r>
              <a:rPr sz="1100" dirty="0">
                <a:solidFill>
                  <a:srgbClr val="1F2A44"/>
                </a:solidFill>
              </a:rPr>
              <a:t>• Inventory-accuracy (Phase 0 cycle count) is a hard prerequisite; the math is only as good as the on-hand figures it reads.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492240"/>
            <a:ext cx="112772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A6A7A"/>
                </a:solidFill>
              </a:rPr>
              <a:t>Atlas Paints &amp; Tools — AI Transformation Proposal  ·  13/26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822960"/>
            <a:ext cx="12191695" cy="45720"/>
          </a:xfrm>
          <a:prstGeom prst="rect">
            <a:avLst/>
          </a:prstGeom>
          <a:solidFill>
            <a:srgbClr val="E67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127729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FFFF"/>
                </a:solidFill>
              </a:rPr>
              <a:t>Technical Success Criteria</a:t>
            </a:r>
          </a:p>
          <a:p>
            <a:r>
              <a:rPr sz="1200">
                <a:solidFill>
                  <a:srgbClr val="F4F6F8"/>
                </a:solidFill>
              </a:rPr>
              <a:t>Measurable, per-SKU-segment; tracked weekly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65760" y="1188720"/>
          <a:ext cx="11430000" cy="5120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1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1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10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64008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Metric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Definition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Target (12 mo post-launch)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Forecast MAPE — paint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mean abs pct error, monthly forecast vs actual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≤ 20% median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Forecast MAPE — hardware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same (lumpy demand; safety stock compensates)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≤ 50% median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PO placement lead time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days from weekly review to PO sent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≤ 2 days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Service-level compliance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actual fill-rate vs. configured SL per segment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≥ 95% on top-80% SKUs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Pipeline runtime (weekly)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end-to-end: extract → forecast → reorder → UI refresh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&lt; 10 minutes on on-prem server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LLM fallback coverage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% of recommendations with an explanation (llm OR template)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100%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LLM numeric-grounding pass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% AI outputs whose every figure traces to the engine (else auto-fallback)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100%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6492240"/>
            <a:ext cx="112772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A6A7A"/>
                </a:solidFill>
              </a:rPr>
              <a:t>Atlas Paints &amp; Tools — AI Transformation Proposal  ·  14/26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822960"/>
            <a:ext cx="12191695" cy="45720"/>
          </a:xfrm>
          <a:prstGeom prst="rect">
            <a:avLst/>
          </a:prstGeom>
          <a:solidFill>
            <a:srgbClr val="E67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127729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FFFF"/>
                </a:solidFill>
              </a:rPr>
              <a:t>Business Success Criteria</a:t>
            </a:r>
          </a:p>
          <a:p>
            <a:r>
              <a:rPr sz="1200">
                <a:solidFill>
                  <a:srgbClr val="F4F6F8"/>
                </a:solidFill>
              </a:rPr>
              <a:t>The P&amp;L and behavioural metrics that define a successful roll-out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65760" y="1188720"/>
          <a:ext cx="11430000" cy="438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1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1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10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73152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Metric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Definition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Target (12 mo post-launch)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3152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Stockout-days avoided (top-20% SKUs)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YoY change in days a top-20% SKU was below ROP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−40%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3152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Deadstock reduction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$ value of SKUs with &gt;6 months of coverage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−30%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3152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Recommendation acceptance rate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% of recommendations approved as-is by GM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≥ 70% by month 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3152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Weekly review cadence established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weeks / 12 with a Monday review executed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≥ 10 / 12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73152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Decisions-per-month (planned)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procurement decisions made on schedule vs. reactive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≥ 4 planned / month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5760720"/>
            <a:ext cx="112471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i="1">
                <a:solidFill>
                  <a:srgbClr val="5A6A7A"/>
                </a:solidFill>
              </a:rPr>
              <a:t>Targets are illustrative ranges — year-1 gains depend on execution and the Phase 0 inventory-accuracy prerequisite. No figure is a commitment.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92240"/>
            <a:ext cx="112772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A6A7A"/>
                </a:solidFill>
              </a:rPr>
              <a:t>Atlas Paints &amp; Tools — AI Transformation Proposal  ·  15/26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822960" y="2926080"/>
            <a:ext cx="1097280" cy="73152"/>
          </a:xfrm>
          <a:prstGeom prst="rect">
            <a:avLst/>
          </a:prstGeom>
          <a:solidFill>
            <a:srgbClr val="E67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22960" y="3108960"/>
            <a:ext cx="109728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4800" b="1">
                <a:solidFill>
                  <a:srgbClr val="FFFFFF"/>
                </a:solidFill>
              </a:rPr>
              <a:t>Technical Architecture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822960"/>
            <a:ext cx="12191695" cy="45720"/>
          </a:xfrm>
          <a:prstGeom prst="rect">
            <a:avLst/>
          </a:prstGeom>
          <a:solidFill>
            <a:srgbClr val="E67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127729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FFFF"/>
                </a:solidFill>
              </a:rPr>
              <a:t>Data Flow</a:t>
            </a:r>
          </a:p>
          <a:p>
            <a:r>
              <a:rPr sz="1200">
                <a:solidFill>
                  <a:srgbClr val="F4F6F8"/>
                </a:solidFill>
              </a:rPr>
              <a:t>Weekly read-only extract → forecast → reorder → explain → human sign-off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005840"/>
            <a:ext cx="11430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i="1">
                <a:solidFill>
                  <a:srgbClr val="1F2A44"/>
                </a:solidFill>
              </a:rPr>
              <a:t>What happens every Monday, step by step.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126480"/>
            <a:ext cx="11430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i="1">
                <a:solidFill>
                  <a:srgbClr val="5A6A7A"/>
                </a:solidFill>
              </a:rPr>
              <a:t>Every arrow is read-only against the ERP except the final step — a human places the PO through the existing process.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92240"/>
            <a:ext cx="112772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A6A7A"/>
                </a:solidFill>
              </a:rPr>
              <a:t>Atlas Paints &amp; Tools — AI Transformation Proposal  ·  17/26</a:t>
            </a:r>
          </a:p>
        </p:txBody>
      </p:sp>
      <p:sp>
        <p:nvSpPr>
          <p:cNvPr id="100" name="card100"/>
          <p:cNvSpPr/>
          <p:nvPr/>
        </p:nvSpPr>
        <p:spPr>
          <a:xfrm>
            <a:off x="3175000" y="1397000"/>
            <a:ext cx="5842000" cy="508000"/>
          </a:xfrm>
          <a:prstGeom prst="roundRect">
            <a:avLst>
              <a:gd name="adj" fmla="val 8000"/>
            </a:avLst>
          </a:prstGeom>
          <a:solidFill>
            <a:srgbClr val="E9EDF2"/>
          </a:solidFill>
          <a:ln w="12700">
            <a:solidFill>
              <a:srgbClr val="C7CFD9"/>
            </a:solidFill>
          </a:ln>
        </p:spPr>
        <p:txBody>
          <a:bodyPr lIns="91440" tIns="45720" rIns="91440" bIns="45720" rtlCol="0" anchor="ctr">
            <a:normAutofit lnSpcReduction="10000"/>
          </a:bodyPr>
          <a:lstStyle/>
          <a:p>
            <a:pPr algn="l"/>
            <a:r>
              <a:rPr lang="en-US" sz="1500" b="1" dirty="0">
                <a:solidFill>
                  <a:srgbClr val="1F2A44"/>
                </a:solidFill>
              </a:rPr>
              <a:t>ERP — SQL, read-only</a:t>
            </a:r>
          </a:p>
          <a:p>
            <a:pPr algn="l"/>
            <a:r>
              <a:rPr lang="en-US" sz="1100" dirty="0">
                <a:solidFill>
                  <a:srgbClr val="1F2A44"/>
                </a:solidFill>
              </a:rPr>
              <a:t>5 tables · 10+ yr history · ~200–500 active SKUs</a:t>
            </a:r>
          </a:p>
        </p:txBody>
      </p:sp>
      <p:sp>
        <p:nvSpPr>
          <p:cNvPr id="101" name="arr101"/>
          <p:cNvSpPr/>
          <p:nvPr/>
        </p:nvSpPr>
        <p:spPr>
          <a:xfrm>
            <a:off x="6007100" y="1905000"/>
            <a:ext cx="177800" cy="139700"/>
          </a:xfrm>
          <a:prstGeom prst="downArrow">
            <a:avLst/>
          </a:prstGeom>
          <a:solidFill>
            <a:srgbClr val="E8833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02" name="lbl102"/>
          <p:cNvSpPr txBox="1"/>
          <p:nvPr/>
        </p:nvSpPr>
        <p:spPr>
          <a:xfrm>
            <a:off x="6248400" y="1860550"/>
            <a:ext cx="2921000" cy="228600"/>
          </a:xfrm>
          <a:prstGeom prst="rect">
            <a:avLst/>
          </a:prstGeom>
          <a:noFill/>
        </p:spPr>
        <p:txBody>
          <a:bodyPr lIns="0" tIns="0" rIns="0" bIns="0" rtlCol="0" anchor="ctr"/>
          <a:lstStyle/>
          <a:p>
            <a:pPr algn="l"/>
            <a:r>
              <a:rPr lang="en-US" sz="1000" i="1" dirty="0">
                <a:solidFill>
                  <a:srgbClr val="6B7687"/>
                </a:solidFill>
              </a:rPr>
              <a:t>weekly extract — SELECT only, no writes</a:t>
            </a:r>
          </a:p>
        </p:txBody>
      </p:sp>
      <p:sp>
        <p:nvSpPr>
          <p:cNvPr id="103" name="card103"/>
          <p:cNvSpPr/>
          <p:nvPr/>
        </p:nvSpPr>
        <p:spPr>
          <a:xfrm>
            <a:off x="3175000" y="2044700"/>
            <a:ext cx="5842000" cy="508000"/>
          </a:xfrm>
          <a:prstGeom prst="roundRect">
            <a:avLst>
              <a:gd name="adj" fmla="val 8000"/>
            </a:avLst>
          </a:prstGeom>
          <a:solidFill>
            <a:srgbClr val="E9EDF2"/>
          </a:solidFill>
          <a:ln w="12700">
            <a:solidFill>
              <a:srgbClr val="C7CFD9"/>
            </a:solidFill>
          </a:ln>
        </p:spPr>
        <p:txBody>
          <a:bodyPr lIns="91440" tIns="45720" rIns="91440" bIns="45720" rtlCol="0" anchor="ctr">
            <a:normAutofit lnSpcReduction="10000"/>
          </a:bodyPr>
          <a:lstStyle/>
          <a:p>
            <a:pPr algn="l"/>
            <a:r>
              <a:rPr lang="en-US" sz="1500" b="1" dirty="0">
                <a:solidFill>
                  <a:srgbClr val="1F2A44"/>
                </a:solidFill>
              </a:rPr>
              <a:t>Local SQLite cache (~10 MB)</a:t>
            </a:r>
          </a:p>
          <a:p>
            <a:pPr algn="l"/>
            <a:r>
              <a:rPr lang="en-US" sz="1100" dirty="0">
                <a:solidFill>
                  <a:srgbClr val="1F2A44"/>
                </a:solidFill>
              </a:rPr>
              <a:t>Refreshed weekly on the on-prem server</a:t>
            </a:r>
          </a:p>
        </p:txBody>
      </p:sp>
      <p:sp>
        <p:nvSpPr>
          <p:cNvPr id="104" name="arr104"/>
          <p:cNvSpPr/>
          <p:nvPr/>
        </p:nvSpPr>
        <p:spPr>
          <a:xfrm>
            <a:off x="6007100" y="2552700"/>
            <a:ext cx="177800" cy="139700"/>
          </a:xfrm>
          <a:prstGeom prst="downArrow">
            <a:avLst/>
          </a:prstGeom>
          <a:solidFill>
            <a:srgbClr val="E8833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05" name="card105"/>
          <p:cNvSpPr/>
          <p:nvPr/>
        </p:nvSpPr>
        <p:spPr>
          <a:xfrm>
            <a:off x="3175000" y="2692400"/>
            <a:ext cx="5842000" cy="508000"/>
          </a:xfrm>
          <a:prstGeom prst="roundRect">
            <a:avLst>
              <a:gd name="adj" fmla="val 8000"/>
            </a:avLst>
          </a:prstGeom>
          <a:solidFill>
            <a:srgbClr val="E9EDF2"/>
          </a:solidFill>
          <a:ln w="12700">
            <a:solidFill>
              <a:srgbClr val="C7CFD9"/>
            </a:solidFill>
          </a:ln>
        </p:spPr>
        <p:txBody>
          <a:bodyPr lIns="91440" tIns="45720" rIns="91440" bIns="45720" rtlCol="0" anchor="ctr">
            <a:normAutofit lnSpcReduction="10000"/>
          </a:bodyPr>
          <a:lstStyle/>
          <a:p>
            <a:pPr algn="l"/>
            <a:r>
              <a:rPr lang="en-US" sz="1500" b="1" dirty="0">
                <a:solidFill>
                  <a:srgbClr val="1F2A44"/>
                </a:solidFill>
              </a:rPr>
              <a:t>Forecasting engine</a:t>
            </a:r>
          </a:p>
          <a:p>
            <a:pPr algn="l"/>
            <a:r>
              <a:rPr lang="en-US" sz="1100" dirty="0">
                <a:solidFill>
                  <a:srgbClr val="1F2A44"/>
                </a:solidFill>
              </a:rPr>
              <a:t>Moving avg + multiplicative seasonality (pandas + numpy)</a:t>
            </a:r>
          </a:p>
        </p:txBody>
      </p:sp>
      <p:sp>
        <p:nvSpPr>
          <p:cNvPr id="106" name="arr106"/>
          <p:cNvSpPr/>
          <p:nvPr/>
        </p:nvSpPr>
        <p:spPr>
          <a:xfrm>
            <a:off x="6007100" y="3200400"/>
            <a:ext cx="177800" cy="139700"/>
          </a:xfrm>
          <a:prstGeom prst="downArrow">
            <a:avLst/>
          </a:prstGeom>
          <a:solidFill>
            <a:srgbClr val="E8833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07" name="lbl107"/>
          <p:cNvSpPr txBox="1"/>
          <p:nvPr/>
        </p:nvSpPr>
        <p:spPr>
          <a:xfrm>
            <a:off x="6248400" y="3155950"/>
            <a:ext cx="2921000" cy="228600"/>
          </a:xfrm>
          <a:prstGeom prst="rect">
            <a:avLst/>
          </a:prstGeom>
          <a:noFill/>
        </p:spPr>
        <p:txBody>
          <a:bodyPr lIns="0" tIns="0" rIns="0" bIns="0" rtlCol="0" anchor="ctr"/>
          <a:lstStyle/>
          <a:p>
            <a:pPr algn="l"/>
            <a:r>
              <a:rPr lang="en-US" sz="1000" i="1" dirty="0">
                <a:solidFill>
                  <a:srgbClr val="6B7687"/>
                </a:solidFill>
              </a:rPr>
              <a:t>forecast + uncertainty + seasonal factor</a:t>
            </a:r>
          </a:p>
        </p:txBody>
      </p:sp>
      <p:sp>
        <p:nvSpPr>
          <p:cNvPr id="108" name="card108"/>
          <p:cNvSpPr/>
          <p:nvPr/>
        </p:nvSpPr>
        <p:spPr>
          <a:xfrm>
            <a:off x="3175000" y="3340100"/>
            <a:ext cx="5842000" cy="508000"/>
          </a:xfrm>
          <a:prstGeom prst="roundRect">
            <a:avLst>
              <a:gd name="adj" fmla="val 8000"/>
            </a:avLst>
          </a:prstGeom>
          <a:solidFill>
            <a:srgbClr val="E9EDF2"/>
          </a:solidFill>
          <a:ln w="12700">
            <a:solidFill>
              <a:srgbClr val="C7CFD9"/>
            </a:solidFill>
          </a:ln>
        </p:spPr>
        <p:txBody>
          <a:bodyPr lIns="91440" tIns="45720" rIns="91440" bIns="45720" rtlCol="0" anchor="ctr">
            <a:normAutofit lnSpcReduction="10000"/>
          </a:bodyPr>
          <a:lstStyle/>
          <a:p>
            <a:pPr algn="l"/>
            <a:r>
              <a:rPr lang="en-US" sz="1500" b="1" dirty="0">
                <a:solidFill>
                  <a:srgbClr val="1F2A44"/>
                </a:solidFill>
              </a:rPr>
              <a:t>Reorder engine</a:t>
            </a:r>
          </a:p>
          <a:p>
            <a:pPr algn="l"/>
            <a:r>
              <a:rPr lang="en-US" sz="1100" dirty="0">
                <a:solidFill>
                  <a:srgbClr val="1F2A44"/>
                </a:solidFill>
              </a:rPr>
              <a:t>Reorder point + buffer (ROP + safety stock)</a:t>
            </a:r>
          </a:p>
        </p:txBody>
      </p:sp>
      <p:sp>
        <p:nvSpPr>
          <p:cNvPr id="109" name="arr109"/>
          <p:cNvSpPr/>
          <p:nvPr/>
        </p:nvSpPr>
        <p:spPr>
          <a:xfrm>
            <a:off x="6007100" y="3848100"/>
            <a:ext cx="177800" cy="139700"/>
          </a:xfrm>
          <a:prstGeom prst="downArrow">
            <a:avLst/>
          </a:prstGeom>
          <a:solidFill>
            <a:srgbClr val="E8833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10" name="card110"/>
          <p:cNvSpPr/>
          <p:nvPr/>
        </p:nvSpPr>
        <p:spPr>
          <a:xfrm>
            <a:off x="3175000" y="3987800"/>
            <a:ext cx="5842000" cy="508000"/>
          </a:xfrm>
          <a:prstGeom prst="roundRect">
            <a:avLst>
              <a:gd name="adj" fmla="val 8000"/>
            </a:avLst>
          </a:prstGeom>
          <a:solidFill>
            <a:srgbClr val="FBEEE2"/>
          </a:solidFill>
          <a:ln w="12700">
            <a:solidFill>
              <a:srgbClr val="C7CFD9"/>
            </a:solidFill>
          </a:ln>
        </p:spPr>
        <p:txBody>
          <a:bodyPr lIns="91440" tIns="45720" rIns="91440" bIns="45720" rtlCol="0" anchor="ctr">
            <a:normAutofit lnSpcReduction="10000"/>
          </a:bodyPr>
          <a:lstStyle/>
          <a:p>
            <a:pPr algn="l"/>
            <a:r>
              <a:rPr lang="en-US" sz="1500" b="1" dirty="0">
                <a:solidFill>
                  <a:srgbClr val="E8833A"/>
                </a:solidFill>
              </a:rPr>
              <a:t>LLM briefing (Claude Haiku)</a:t>
            </a:r>
          </a:p>
          <a:p>
            <a:pPr algn="l"/>
            <a:r>
              <a:rPr lang="en-US" sz="1100" dirty="0">
                <a:solidFill>
                  <a:srgbClr val="1F2A44"/>
                </a:solidFill>
              </a:rPr>
              <a:t>Optional cloud step · offline template fallback · grounding check on every figure</a:t>
            </a:r>
          </a:p>
        </p:txBody>
      </p:sp>
      <p:sp>
        <p:nvSpPr>
          <p:cNvPr id="111" name="arr111"/>
          <p:cNvSpPr/>
          <p:nvPr/>
        </p:nvSpPr>
        <p:spPr>
          <a:xfrm>
            <a:off x="6007100" y="4495800"/>
            <a:ext cx="177800" cy="139700"/>
          </a:xfrm>
          <a:prstGeom prst="downArrow">
            <a:avLst/>
          </a:prstGeom>
          <a:solidFill>
            <a:srgbClr val="E8833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12" name="card112"/>
          <p:cNvSpPr/>
          <p:nvPr/>
        </p:nvSpPr>
        <p:spPr>
          <a:xfrm>
            <a:off x="3175000" y="4635500"/>
            <a:ext cx="5842000" cy="508000"/>
          </a:xfrm>
          <a:prstGeom prst="roundRect">
            <a:avLst>
              <a:gd name="adj" fmla="val 8000"/>
            </a:avLst>
          </a:prstGeom>
          <a:solidFill>
            <a:srgbClr val="E9EDF2"/>
          </a:solidFill>
          <a:ln w="12700">
            <a:solidFill>
              <a:srgbClr val="C7CFD9"/>
            </a:solidFill>
          </a:ln>
        </p:spPr>
        <p:txBody>
          <a:bodyPr lIns="91440" tIns="45720" rIns="91440" bIns="45720" rtlCol="0" anchor="ctr">
            <a:normAutofit lnSpcReduction="10000"/>
          </a:bodyPr>
          <a:lstStyle/>
          <a:p>
            <a:pPr algn="l"/>
            <a:r>
              <a:rPr lang="en-US" sz="1500" b="1" dirty="0">
                <a:solidFill>
                  <a:srgbClr val="1F2A44"/>
                </a:solidFill>
              </a:rPr>
              <a:t>Streamlit UI (LAN-only)</a:t>
            </a:r>
          </a:p>
          <a:p>
            <a:pPr algn="l"/>
            <a:r>
              <a:rPr lang="en-US" sz="1100" dirty="0">
                <a:solidFill>
                  <a:srgbClr val="1F2A44"/>
                </a:solidFill>
              </a:rPr>
              <a:t>Dashboard · SKU Drilldown · What-if · 1–3 concurrent users</a:t>
            </a:r>
          </a:p>
        </p:txBody>
      </p:sp>
      <p:sp>
        <p:nvSpPr>
          <p:cNvPr id="113" name="arr113"/>
          <p:cNvSpPr/>
          <p:nvPr/>
        </p:nvSpPr>
        <p:spPr>
          <a:xfrm>
            <a:off x="6007100" y="5143500"/>
            <a:ext cx="177800" cy="139700"/>
          </a:xfrm>
          <a:prstGeom prst="downArrow">
            <a:avLst/>
          </a:prstGeom>
          <a:solidFill>
            <a:srgbClr val="E8833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14" name="card114"/>
          <p:cNvSpPr/>
          <p:nvPr/>
        </p:nvSpPr>
        <p:spPr>
          <a:xfrm>
            <a:off x="3175000" y="5283200"/>
            <a:ext cx="5842000" cy="508000"/>
          </a:xfrm>
          <a:prstGeom prst="roundRect">
            <a:avLst>
              <a:gd name="adj" fmla="val 8000"/>
            </a:avLst>
          </a:prstGeom>
          <a:solidFill>
            <a:srgbClr val="DCE7DA"/>
          </a:solidFill>
          <a:ln w="12700">
            <a:solidFill>
              <a:srgbClr val="C7CFD9"/>
            </a:solidFill>
          </a:ln>
        </p:spPr>
        <p:txBody>
          <a:bodyPr lIns="91440" tIns="45720" rIns="91440" bIns="45720" rtlCol="0" anchor="ctr">
            <a:normAutofit lnSpcReduction="10000"/>
          </a:bodyPr>
          <a:lstStyle/>
          <a:p>
            <a:pPr algn="l"/>
            <a:r>
              <a:rPr lang="en-US" sz="1500" b="1" dirty="0">
                <a:solidFill>
                  <a:srgbClr val="2E5A33"/>
                </a:solidFill>
              </a:rPr>
              <a:t>Human sign-off</a:t>
            </a:r>
          </a:p>
          <a:p>
            <a:pPr algn="l"/>
            <a:r>
              <a:rPr lang="en-US" sz="1100" dirty="0">
                <a:solidFill>
                  <a:srgbClr val="1F2A44"/>
                </a:solidFill>
              </a:rPr>
              <a:t>Manual PO to supplier → ERP update (existing workflow, unchanged)</a:t>
            </a:r>
          </a:p>
        </p:txBody>
      </p:sp>
    </p:spTree>
    <p:extLst>
      <p:ext uri="{BB962C8B-B14F-4D97-AF65-F5344CB8AC3E}">
        <p14:creationId xmlns:p14="http://schemas.microsoft.com/office/powerpoint/2010/main" val="159472425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822960"/>
            <a:ext cx="12191695" cy="45720"/>
          </a:xfrm>
          <a:prstGeom prst="rect">
            <a:avLst/>
          </a:prstGeom>
          <a:solidFill>
            <a:srgbClr val="E67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127729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FFFF"/>
                </a:solidFill>
              </a:rPr>
              <a:t>Technical Architecture</a:t>
            </a:r>
          </a:p>
          <a:p>
            <a:r>
              <a:rPr sz="1200">
                <a:solidFill>
                  <a:srgbClr val="F4F6F8"/>
                </a:solidFill>
              </a:rPr>
              <a:t>Single on-prem server; LLM path is optional and degrades gracefully offline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914400"/>
            <a:ext cx="11430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i="1">
                <a:solidFill>
                  <a:srgbClr val="1F2A44"/>
                </a:solidFill>
              </a:rPr>
              <a:t>One small Python service on your existing server. The LLM call is optional and degrades gracefully.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486400"/>
            <a:ext cx="11277600" cy="1066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>
                <a:solidFill>
                  <a:srgbClr val="1F2A44"/>
                </a:solidFill>
              </a:rPr>
              <a:t>• Tiny footprint — the entire system fits in ~100 MB on your current server; no new hardware needed.</a:t>
            </a:r>
          </a:p>
          <a:p>
            <a:pPr>
              <a:spcAft>
                <a:spcPts val="400"/>
              </a:spcAft>
            </a:pPr>
            <a:r>
              <a:rPr sz="1100">
                <a:solidFill>
                  <a:srgbClr val="1F2A44"/>
                </a:solidFill>
              </a:rPr>
              <a:t>• LLM cost: under $5 / month at Atlas volumes — and entirely optional.</a:t>
            </a:r>
          </a:p>
          <a:p>
            <a:pPr>
              <a:spcAft>
                <a:spcPts val="400"/>
              </a:spcAft>
            </a:pPr>
            <a:r>
              <a:rPr sz="1100">
                <a:solidFill>
                  <a:srgbClr val="1F2A44"/>
                </a:solidFill>
              </a:rPr>
              <a:t>• Why on-prem: unreliable internet + zero cloud budget + legal preference to keep ERP data on-site.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92240"/>
            <a:ext cx="112772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A6A7A"/>
                </a:solidFill>
              </a:rPr>
              <a:t>Atlas Paints &amp; Tools — AI Transformation Proposal  ·  18/26</a:t>
            </a:r>
          </a:p>
        </p:txBody>
      </p:sp>
      <p:sp>
        <p:nvSpPr>
          <p:cNvPr id="200" name="box200"/>
          <p:cNvSpPr/>
          <p:nvPr/>
        </p:nvSpPr>
        <p:spPr>
          <a:xfrm>
            <a:off x="508000" y="1320800"/>
            <a:ext cx="7620000" cy="3458446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2700">
            <a:solidFill>
              <a:srgbClr val="9FB0C3"/>
            </a:solidFill>
          </a:ln>
        </p:spPr>
        <p:txBody>
          <a:bodyPr lIns="64008" tIns="32004" rIns="64008" bIns="32004" rtlCol="0" anchor="ctr">
            <a:normAutofit/>
          </a:bodyPr>
          <a:lstStyle/>
          <a:p>
            <a:pPr algn="ctr"/>
            <a:endParaRPr/>
          </a:p>
        </p:txBody>
      </p:sp>
      <p:sp>
        <p:nvSpPr>
          <p:cNvPr id="201" name="lb201"/>
          <p:cNvSpPr txBox="1"/>
          <p:nvPr/>
        </p:nvSpPr>
        <p:spPr>
          <a:xfrm>
            <a:off x="711200" y="1426670"/>
            <a:ext cx="3556000" cy="282322"/>
          </a:xfrm>
          <a:prstGeom prst="rect">
            <a:avLst/>
          </a:prstGeom>
          <a:noFill/>
        </p:spPr>
        <p:txBody>
          <a:bodyPr lIns="0" tIns="0" rIns="0" bIns="0" rtlCol="0" anchor="ctr"/>
          <a:lstStyle/>
          <a:p>
            <a:pPr algn="l"/>
            <a:r>
              <a:rPr lang="en-US" sz="1100" i="1" dirty="0">
                <a:solidFill>
                  <a:srgbClr val="5A6A7A"/>
                </a:solidFill>
              </a:rPr>
              <a:t>Atlas on-prem server</a:t>
            </a:r>
          </a:p>
        </p:txBody>
      </p:sp>
      <p:sp>
        <p:nvSpPr>
          <p:cNvPr id="202" name="box202"/>
          <p:cNvSpPr/>
          <p:nvPr/>
        </p:nvSpPr>
        <p:spPr>
          <a:xfrm>
            <a:off x="762000" y="2061895"/>
            <a:ext cx="1905000" cy="1235159"/>
          </a:xfrm>
          <a:prstGeom prst="roundRect">
            <a:avLst>
              <a:gd name="adj" fmla="val 10000"/>
            </a:avLst>
          </a:prstGeom>
          <a:solidFill>
            <a:srgbClr val="E9EDF2"/>
          </a:solidFill>
          <a:ln w="12700">
            <a:solidFill>
              <a:srgbClr val="C7CFD9"/>
            </a:solidFill>
          </a:ln>
        </p:spPr>
        <p:txBody>
          <a:bodyPr lIns="64008" tIns="32004" rIns="64008" bIns="32004" rtlCol="0" anchor="ctr">
            <a:normAutofit/>
          </a:bodyPr>
          <a:lstStyle/>
          <a:p>
            <a:pPr algn="ctr"/>
            <a:r>
              <a:rPr lang="en-US" sz="1300" b="1" dirty="0">
                <a:solidFill>
                  <a:srgbClr val="1F2A44"/>
                </a:solidFill>
              </a:rPr>
              <a:t>ERP DB</a:t>
            </a:r>
          </a:p>
          <a:p>
            <a:pPr algn="ctr"/>
            <a:r>
              <a:rPr lang="en-US" sz="1000" dirty="0">
                <a:solidFill>
                  <a:srgbClr val="1F2A44"/>
                </a:solidFill>
              </a:rPr>
              <a:t>MSSQL / custom</a:t>
            </a:r>
          </a:p>
        </p:txBody>
      </p:sp>
      <p:sp>
        <p:nvSpPr>
          <p:cNvPr id="203" name="box203"/>
          <p:cNvSpPr/>
          <p:nvPr/>
        </p:nvSpPr>
        <p:spPr>
          <a:xfrm>
            <a:off x="3149600" y="2061895"/>
            <a:ext cx="2336800" cy="1235159"/>
          </a:xfrm>
          <a:prstGeom prst="roundRect">
            <a:avLst>
              <a:gd name="adj" fmla="val 10000"/>
            </a:avLst>
          </a:prstGeom>
          <a:solidFill>
            <a:srgbClr val="FBEEE2"/>
          </a:solidFill>
          <a:ln w="12700">
            <a:solidFill>
              <a:srgbClr val="E8833A"/>
            </a:solidFill>
          </a:ln>
        </p:spPr>
        <p:txBody>
          <a:bodyPr lIns="64008" tIns="32004" rIns="64008" bIns="32004" rtlCol="0" anchor="ctr">
            <a:normAutofit/>
          </a:bodyPr>
          <a:lstStyle/>
          <a:p>
            <a:pPr algn="ctr"/>
            <a:r>
              <a:rPr lang="en-US" sz="1300" b="1" dirty="0">
                <a:solidFill>
                  <a:srgbClr val="1F2A44"/>
                </a:solidFill>
              </a:rPr>
              <a:t>Python service</a:t>
            </a:r>
          </a:p>
          <a:p>
            <a:pPr algn="ctr"/>
            <a:r>
              <a:rPr lang="en-US" sz="1000" dirty="0">
                <a:solidFill>
                  <a:srgbClr val="1F2A44"/>
                </a:solidFill>
              </a:rPr>
              <a:t>extract · forecast · reorder · explain</a:t>
            </a:r>
          </a:p>
        </p:txBody>
      </p:sp>
      <p:sp>
        <p:nvSpPr>
          <p:cNvPr id="204" name="box204"/>
          <p:cNvSpPr/>
          <p:nvPr/>
        </p:nvSpPr>
        <p:spPr>
          <a:xfrm>
            <a:off x="5969000" y="2061895"/>
            <a:ext cx="1905000" cy="1235159"/>
          </a:xfrm>
          <a:prstGeom prst="roundRect">
            <a:avLst>
              <a:gd name="adj" fmla="val 10000"/>
            </a:avLst>
          </a:prstGeom>
          <a:solidFill>
            <a:srgbClr val="E9EDF2"/>
          </a:solidFill>
          <a:ln w="12700">
            <a:solidFill>
              <a:srgbClr val="C7CFD9"/>
            </a:solidFill>
          </a:ln>
        </p:spPr>
        <p:txBody>
          <a:bodyPr lIns="64008" tIns="32004" rIns="64008" bIns="32004" rtlCol="0" anchor="ctr">
            <a:normAutofit/>
          </a:bodyPr>
          <a:lstStyle/>
          <a:p>
            <a:pPr algn="ctr"/>
            <a:r>
              <a:rPr lang="en-US" sz="1300" b="1" dirty="0">
                <a:solidFill>
                  <a:srgbClr val="1F2A44"/>
                </a:solidFill>
              </a:rPr>
              <a:t>SQLite cache</a:t>
            </a:r>
          </a:p>
          <a:p>
            <a:pPr algn="ctr"/>
            <a:r>
              <a:rPr lang="en-US" sz="1000" dirty="0">
                <a:solidFill>
                  <a:srgbClr val="1F2A44"/>
                </a:solidFill>
              </a:rPr>
              <a:t>venv, scheduled</a:t>
            </a:r>
          </a:p>
        </p:txBody>
      </p:sp>
      <p:sp>
        <p:nvSpPr>
          <p:cNvPr id="205" name="ar205"/>
          <p:cNvSpPr/>
          <p:nvPr/>
        </p:nvSpPr>
        <p:spPr>
          <a:xfrm>
            <a:off x="2692400" y="2503023"/>
            <a:ext cx="431800" cy="352902"/>
          </a:xfrm>
          <a:prstGeom prst="rightArrow">
            <a:avLst/>
          </a:prstGeom>
          <a:solidFill>
            <a:srgbClr val="E8833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206" name="ar206"/>
          <p:cNvSpPr/>
          <p:nvPr/>
        </p:nvSpPr>
        <p:spPr>
          <a:xfrm>
            <a:off x="5511800" y="2503023"/>
            <a:ext cx="431800" cy="352902"/>
          </a:xfrm>
          <a:prstGeom prst="rightArrow">
            <a:avLst/>
          </a:prstGeom>
          <a:solidFill>
            <a:srgbClr val="E8833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207" name="ar207"/>
          <p:cNvSpPr/>
          <p:nvPr/>
        </p:nvSpPr>
        <p:spPr>
          <a:xfrm>
            <a:off x="4229100" y="3332345"/>
            <a:ext cx="177800" cy="317612"/>
          </a:xfrm>
          <a:prstGeom prst="downArrow">
            <a:avLst/>
          </a:prstGeom>
          <a:solidFill>
            <a:srgbClr val="E8833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208" name="box208"/>
          <p:cNvSpPr/>
          <p:nvPr/>
        </p:nvSpPr>
        <p:spPr>
          <a:xfrm>
            <a:off x="1905000" y="3685247"/>
            <a:ext cx="4826000" cy="846966"/>
          </a:xfrm>
          <a:prstGeom prst="roundRect">
            <a:avLst>
              <a:gd name="adj" fmla="val 10000"/>
            </a:avLst>
          </a:prstGeom>
          <a:solidFill>
            <a:srgbClr val="E9EDF2"/>
          </a:solidFill>
          <a:ln w="12700">
            <a:solidFill>
              <a:srgbClr val="C7CFD9"/>
            </a:solidFill>
          </a:ln>
        </p:spPr>
        <p:txBody>
          <a:bodyPr lIns="64008" tIns="32004" rIns="64008" bIns="32004" rtlCol="0" anchor="ctr">
            <a:normAutofit/>
          </a:bodyPr>
          <a:lstStyle/>
          <a:p>
            <a:pPr algn="ctr"/>
            <a:r>
              <a:rPr lang="en-US" sz="1300" b="1" dirty="0">
                <a:solidFill>
                  <a:srgbClr val="1F2A44"/>
                </a:solidFill>
              </a:rPr>
              <a:t>Streamlit app</a:t>
            </a:r>
          </a:p>
          <a:p>
            <a:pPr algn="ctr"/>
            <a:r>
              <a:rPr lang="en-US" sz="1000" dirty="0">
                <a:solidFill>
                  <a:srgbClr val="1F2A44"/>
                </a:solidFill>
              </a:rPr>
              <a:t>port 8501 · LAN-only</a:t>
            </a:r>
          </a:p>
        </p:txBody>
      </p:sp>
      <p:sp>
        <p:nvSpPr>
          <p:cNvPr id="209" name="ar209"/>
          <p:cNvSpPr/>
          <p:nvPr/>
        </p:nvSpPr>
        <p:spPr>
          <a:xfrm>
            <a:off x="4229100" y="4532214"/>
            <a:ext cx="177800" cy="211741"/>
          </a:xfrm>
          <a:prstGeom prst="downArrow">
            <a:avLst/>
          </a:prstGeom>
          <a:solidFill>
            <a:srgbClr val="9FB0C3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210" name="lb210"/>
          <p:cNvSpPr txBox="1"/>
          <p:nvPr/>
        </p:nvSpPr>
        <p:spPr>
          <a:xfrm>
            <a:off x="4406900" y="4496923"/>
            <a:ext cx="1016000" cy="282322"/>
          </a:xfrm>
          <a:prstGeom prst="rect">
            <a:avLst/>
          </a:prstGeom>
          <a:noFill/>
        </p:spPr>
        <p:txBody>
          <a:bodyPr lIns="0" tIns="0" rIns="0" bIns="0" rtlCol="0" anchor="ctr"/>
          <a:lstStyle/>
          <a:p>
            <a:pPr algn="l"/>
            <a:r>
              <a:rPr lang="en-US" sz="1000" i="1" dirty="0">
                <a:solidFill>
                  <a:srgbClr val="6B7687"/>
                </a:solidFill>
              </a:rPr>
              <a:t>LAN</a:t>
            </a:r>
          </a:p>
        </p:txBody>
      </p:sp>
      <p:sp>
        <p:nvSpPr>
          <p:cNvPr id="211" name="box211"/>
          <p:cNvSpPr/>
          <p:nvPr/>
        </p:nvSpPr>
        <p:spPr>
          <a:xfrm>
            <a:off x="1905000" y="4779246"/>
            <a:ext cx="4826000" cy="529353"/>
          </a:xfrm>
          <a:prstGeom prst="roundRect">
            <a:avLst>
              <a:gd name="adj" fmla="val 10000"/>
            </a:avLst>
          </a:prstGeom>
          <a:solidFill>
            <a:srgbClr val="EAF0EA"/>
          </a:solidFill>
          <a:ln w="12700">
            <a:solidFill>
              <a:srgbClr val="9DBBA0"/>
            </a:solidFill>
          </a:ln>
        </p:spPr>
        <p:txBody>
          <a:bodyPr lIns="64008" tIns="32004" rIns="64008" bIns="32004" rtlCol="0" anchor="ctr">
            <a:normAutofit/>
          </a:bodyPr>
          <a:lstStyle/>
          <a:p>
            <a:pPr algn="ctr"/>
            <a:r>
              <a:rPr lang="en-US" sz="1300" b="1" dirty="0">
                <a:solidFill>
                  <a:srgbClr val="2E5A33"/>
                </a:solidFill>
              </a:rPr>
              <a:t>GM + Procurement browsers</a:t>
            </a:r>
          </a:p>
        </p:txBody>
      </p:sp>
      <p:sp>
        <p:nvSpPr>
          <p:cNvPr id="212" name="box212"/>
          <p:cNvSpPr/>
          <p:nvPr/>
        </p:nvSpPr>
        <p:spPr>
          <a:xfrm>
            <a:off x="8534400" y="2061895"/>
            <a:ext cx="3124200" cy="1235159"/>
          </a:xfrm>
          <a:prstGeom prst="roundRect">
            <a:avLst>
              <a:gd name="adj" fmla="val 10000"/>
            </a:avLst>
          </a:prstGeom>
          <a:solidFill>
            <a:srgbClr val="FBEEE2"/>
          </a:solidFill>
          <a:ln w="12700">
            <a:solidFill>
              <a:srgbClr val="E8833A"/>
            </a:solidFill>
          </a:ln>
        </p:spPr>
        <p:txBody>
          <a:bodyPr lIns="64008" tIns="32004" rIns="64008" bIns="32004" rtlCol="0" anchor="ctr">
            <a:normAutofit/>
          </a:bodyPr>
          <a:lstStyle/>
          <a:p>
            <a:pPr algn="ctr"/>
            <a:r>
              <a:rPr lang="en-US" sz="1300" b="1" dirty="0">
                <a:solidFill>
                  <a:srgbClr val="E8833A"/>
                </a:solidFill>
              </a:rPr>
              <a:t>Anthropic API  (optional)</a:t>
            </a:r>
          </a:p>
          <a:p>
            <a:pPr algn="ctr"/>
            <a:r>
              <a:rPr lang="en-US" sz="1000" dirty="0">
                <a:solidFill>
                  <a:srgbClr val="1F2A44"/>
                </a:solidFill>
              </a:rPr>
              <a:t>weekly briefing + per-SKU explanations · grounding-checked · offline template fallback</a:t>
            </a:r>
          </a:p>
        </p:txBody>
      </p:sp>
      <p:sp>
        <p:nvSpPr>
          <p:cNvPr id="213" name="ar213"/>
          <p:cNvSpPr/>
          <p:nvPr/>
        </p:nvSpPr>
        <p:spPr>
          <a:xfrm>
            <a:off x="7899400" y="2538314"/>
            <a:ext cx="609600" cy="282322"/>
          </a:xfrm>
          <a:prstGeom prst="rightArrow">
            <a:avLst/>
          </a:prstGeom>
          <a:solidFill>
            <a:srgbClr val="E8833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214" name="lb214"/>
          <p:cNvSpPr txBox="1"/>
          <p:nvPr/>
        </p:nvSpPr>
        <p:spPr>
          <a:xfrm>
            <a:off x="8534400" y="1744283"/>
            <a:ext cx="3124200" cy="282322"/>
          </a:xfrm>
          <a:prstGeom prst="rect">
            <a:avLst/>
          </a:prstGeom>
          <a:noFill/>
        </p:spPr>
        <p:txBody>
          <a:bodyPr lIns="0" tIns="0" rIns="0" bIns="0" rtlCol="0" anchor="ctr"/>
          <a:lstStyle/>
          <a:p>
            <a:pPr algn="l"/>
            <a:r>
              <a:rPr lang="en-US" sz="1000" i="1" dirty="0">
                <a:solidFill>
                  <a:srgbClr val="6B7687"/>
                </a:solidFill>
              </a:rPr>
              <a:t>HTTPS · optional</a:t>
            </a:r>
          </a:p>
        </p:txBody>
      </p:sp>
    </p:spTree>
    <p:extLst>
      <p:ext uri="{BB962C8B-B14F-4D97-AF65-F5344CB8AC3E}">
        <p14:creationId xmlns:p14="http://schemas.microsoft.com/office/powerpoint/2010/main" val="93688324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822960"/>
            <a:ext cx="12191695" cy="45720"/>
          </a:xfrm>
          <a:prstGeom prst="rect">
            <a:avLst/>
          </a:prstGeom>
          <a:solidFill>
            <a:srgbClr val="E67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127729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FFFF"/>
                </a:solidFill>
              </a:rPr>
              <a:t>Build vs Buy Considerations</a:t>
            </a:r>
          </a:p>
          <a:p>
            <a:r>
              <a:rPr sz="1200">
                <a:solidFill>
                  <a:srgbClr val="F4F6F8"/>
                </a:solidFill>
              </a:rPr>
              <a:t>Build the thin orchestration; buy (rent, optionally) only the LLM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274320" y="1188720"/>
          <a:ext cx="11612880" cy="5212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709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709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709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744582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Component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Choice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Rationale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44582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Forecasting + reorder engine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BUILD — ~200 lines of Python (pandas, numpy)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Classical formulas; transparent; no recurring license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44582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LLM for explanations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BUY/RENT — Anthropic API (claude-haiku-4-5), optional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&lt;$5/month; offline template fallback means zero hard dependency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44582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UI / dashboard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BUILD — Streamlit (open source)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Runs on-prem, LAN-only, no vendor lock-in, $0 license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44582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Data store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BUILD — SQLite cache on the existing ERP server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No new infra; backup = copy one file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744582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Inventory-planning SaaS (e.g. NetSuite / SAP IBP)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REJECTED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Cloud-hosted; monthly license; overkill for 200–500 SKUs; does not respect the zero-budget / unreliable-internet constraints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744588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Forecasting library (Prophet, statsforecast)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DEFERRED to Phase 2.5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Not needed for baseline; adds dependency weight; revisit for specific SKU segments only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6492240"/>
            <a:ext cx="112772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A6A7A"/>
                </a:solidFill>
              </a:rPr>
              <a:t>Atlas Paints &amp; Tools — AI Transformation Proposal  ·  19/26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822960"/>
            <a:ext cx="12191695" cy="45720"/>
          </a:xfrm>
          <a:prstGeom prst="rect">
            <a:avLst/>
          </a:prstGeom>
          <a:solidFill>
            <a:srgbClr val="E67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127729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FFFF"/>
                </a:solidFill>
              </a:rPr>
              <a:t>Phased AI Roadmap</a:t>
            </a:r>
          </a:p>
          <a:p>
            <a:r>
              <a:rPr sz="1200">
                <a:solidFill>
                  <a:srgbClr val="F4F6F8"/>
                </a:solidFill>
              </a:rPr>
              <a:t>~4-month engagement; Phase-2 slot of the overall Atlas AI roadmap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228600" y="1188720"/>
          <a:ext cx="11731752" cy="5308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3293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93293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93293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93293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58928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Sprint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Weeks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Scope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Output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8928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S0  Prerequisite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-4 → 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Phase 0 cycle count; populate reorder-point fields in ERP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Trusted on-hand; ROP fields filled (GM + warehouse)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8928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S1  Data extract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1–2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Read-only SQL extract into local SQLite; weekly refresh job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Scheduled extract, validated row counts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8928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S2  Forecasting v1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3–4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Moving avg + seasonality; historical backtest + tune baseline window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Forecast module + per-SKU MAPE report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8928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S3  Reorder engine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5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ROP + safety stock; replay past stockouts; integrate with forecast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Reorder module + list of past stockouts that would have been pre-flagged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8928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S4  Streamlit UI + LLM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6–7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Dashboard / drilldown / what-if; LLM layer with template fallback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Usable app on the Atlas server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8928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S5  UAT (paper-parallel)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8–9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System recs run alongside existing reactive process; decisions compared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Decision log; acceptance-rate evidence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58928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S6  Go-live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System becomes authoritative; weekly review cadence starts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First weekly PO batch based on system recs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58928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S7  Stabilization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11–16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Tune service levels per segment; add Croston for intermittent hardware if needed; monthly accuracy report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Tuned system; go/no-go on Phase 3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6492240"/>
            <a:ext cx="112772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A6A7A"/>
                </a:solidFill>
              </a:rPr>
              <a:t>Atlas Paints &amp; Tools — AI Transformation Proposal  ·  20/26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822960" y="2926080"/>
            <a:ext cx="1097280" cy="73152"/>
          </a:xfrm>
          <a:prstGeom prst="rect">
            <a:avLst/>
          </a:prstGeom>
          <a:solidFill>
            <a:srgbClr val="E67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22960" y="3108960"/>
            <a:ext cx="109728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4800" b="1">
                <a:solidFill>
                  <a:srgbClr val="FFFFFF"/>
                </a:solidFill>
              </a:rPr>
              <a:t>Commercial &amp; Pricing Considerations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822960"/>
            <a:ext cx="12191695" cy="45720"/>
          </a:xfrm>
          <a:prstGeom prst="rect">
            <a:avLst/>
          </a:prstGeom>
          <a:solidFill>
            <a:srgbClr val="E67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127729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FFFF"/>
                </a:solidFill>
              </a:rPr>
              <a:t>Commercial &amp; Pricing Considerations</a:t>
            </a:r>
          </a:p>
          <a:p>
            <a:r>
              <a:rPr sz="1200">
                <a:solidFill>
                  <a:srgbClr val="F4F6F8"/>
                </a:solidFill>
              </a:rPr>
              <a:t>Zero-budget-compatible by design — the only hard cost is consultant time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65760" y="1188720"/>
          <a:ext cx="11430000" cy="3840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1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1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10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4864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Category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Estimate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Notes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Consultant time (S0–S7)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8–12 person-weeks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Single consultant over ~4 months; principal AI / data eng.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Software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$0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Python, Streamlit, pandas, numpy, SQLite — all open source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LLM API (optional)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&lt; $5 / month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Claude Haiku; ~80 recs × ~200 tokens; entirely optional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Infrastructure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$0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Runs on Atlas's existing on-prem server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Training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2 × half-day sessions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GM + procurement, covered during S5 UAT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Ongoing maintenance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≈1 day / month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Service-level tuning + monthly accuracy review; retainer or internal champion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5130800"/>
            <a:ext cx="11277600" cy="304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1F2A44"/>
                </a:solidFill>
              </a:rPr>
              <a:t>Internal time commitment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461000"/>
            <a:ext cx="11277600" cy="990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>
                <a:solidFill>
                  <a:srgbClr val="1F2A44"/>
                </a:solidFill>
              </a:rPr>
              <a:t>• GM: ~2 hrs/week during S5–S7; ~30 min/week steady state.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1F2A44"/>
                </a:solidFill>
              </a:rPr>
              <a:t>• Procurement: ~2 hrs/week steady state (weekly review + PO placement).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1F2A44"/>
                </a:solidFill>
              </a:rPr>
              <a:t>• Warehouse lead: sign-off on Phase 0 cycle count (one-time, ~1 week distributed).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92240"/>
            <a:ext cx="112772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A6A7A"/>
                </a:solidFill>
              </a:rPr>
              <a:t>Atlas Paints &amp; Tools — AI Transformation Proposal  ·  22/26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822960"/>
            <a:ext cx="12191695" cy="45720"/>
          </a:xfrm>
          <a:prstGeom prst="rect">
            <a:avLst/>
          </a:prstGeom>
          <a:solidFill>
            <a:srgbClr val="E67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127729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FFFF"/>
                </a:solidFill>
              </a:rPr>
              <a:t>Evaluation &amp; Validation Plan</a:t>
            </a:r>
          </a:p>
          <a:p>
            <a:r>
              <a:rPr sz="1200">
                <a:solidFill>
                  <a:srgbClr val="F4F6F8"/>
                </a:solidFill>
              </a:rPr>
              <a:t>Paper-parallel UAT → weekly metrics → monthly accuracy review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548640"/>
            <a:ext cx="5669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1F2A44"/>
                </a:solidFill>
              </a:rPr>
              <a:t>Validation cadence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211580"/>
            <a:ext cx="56692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dirty="0">
                <a:solidFill>
                  <a:srgbClr val="1F2A44"/>
                </a:solidFill>
              </a:rPr>
              <a:t>• S5 UAT: 2-week paper-parallel run — system recs produced alongside existing reactive process; decisions compared per SKU.</a:t>
            </a:r>
          </a:p>
          <a:p>
            <a:pPr>
              <a:spcAft>
                <a:spcPts val="400"/>
              </a:spcAft>
            </a:pPr>
            <a:r>
              <a:rPr sz="1200" dirty="0">
                <a:solidFill>
                  <a:srgbClr val="1F2A44"/>
                </a:solidFill>
              </a:rPr>
              <a:t>• </a:t>
            </a:r>
            <a:r>
              <a:rPr sz="1200" dirty="0" err="1">
                <a:solidFill>
                  <a:srgbClr val="1F2A44"/>
                </a:solidFill>
              </a:rPr>
              <a:t>Backtest</a:t>
            </a:r>
            <a:r>
              <a:rPr sz="1200" dirty="0">
                <a:solidFill>
                  <a:srgbClr val="1F2A44"/>
                </a:solidFill>
              </a:rPr>
              <a:t> evidence: list of historical stockouts the system would have pre-flagged, with the PO date it would have suggested.</a:t>
            </a:r>
          </a:p>
          <a:p>
            <a:pPr>
              <a:spcAft>
                <a:spcPts val="400"/>
              </a:spcAft>
            </a:pPr>
            <a:r>
              <a:rPr sz="1200" dirty="0">
                <a:solidFill>
                  <a:srgbClr val="1F2A44"/>
                </a:solidFill>
              </a:rPr>
              <a:t>• Weekly: forecast MAPE, acceptance rate, PO placement lead-time tracked automatically in the app.</a:t>
            </a:r>
          </a:p>
          <a:p>
            <a:pPr>
              <a:spcAft>
                <a:spcPts val="400"/>
              </a:spcAft>
            </a:pPr>
            <a:r>
              <a:rPr sz="1200" dirty="0">
                <a:solidFill>
                  <a:srgbClr val="1F2A44"/>
                </a:solidFill>
              </a:rPr>
              <a:t>• Monthly: accuracy review with GM — service levels re-tuned per SKU segment; override patterns analyzed for parameter drift.</a:t>
            </a:r>
          </a:p>
          <a:p>
            <a:pPr>
              <a:spcAft>
                <a:spcPts val="400"/>
              </a:spcAft>
            </a:pPr>
            <a:r>
              <a:rPr sz="1200" dirty="0">
                <a:solidFill>
                  <a:srgbClr val="1F2A44"/>
                </a:solidFill>
              </a:rPr>
              <a:t>• Quarterly: business review — stockout-days YoY, deadstock $ change, go/no-go on Phase 2.5 (Croston, advanced models).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0" y="1097280"/>
            <a:ext cx="5394960" cy="5303520"/>
          </a:xfrm>
          <a:prstGeom prst="roundRect">
            <a:avLst/>
          </a:prstGeom>
          <a:solidFill>
            <a:srgbClr val="F4F6F8"/>
          </a:solidFill>
          <a:ln w="15875">
            <a:solidFill>
              <a:srgbClr val="E67E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766560" y="1618488"/>
            <a:ext cx="4698609" cy="21544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 dirty="0">
                <a:solidFill>
                  <a:srgbClr val="1F2A44"/>
                </a:solidFill>
              </a:rPr>
              <a:t>MODEL &amp; PARAMETER CHANGE CONTROL</a:t>
            </a:r>
          </a:p>
          <a:p>
            <a:r>
              <a:rPr sz="1100" dirty="0">
                <a:solidFill>
                  <a:srgbClr val="5A6A7A"/>
                </a:solidFill>
              </a:rPr>
              <a:t>• Any change to forecasting parameters, service level, prompt template, or LLM model is version-controlled in the Python package.
• Monthly override review asks: are recent GM edits </a:t>
            </a:r>
            <a:r>
              <a:rPr sz="1100" dirty="0" err="1">
                <a:solidFill>
                  <a:srgbClr val="5A6A7A"/>
                </a:solidFill>
              </a:rPr>
              <a:t>signalling</a:t>
            </a:r>
            <a:r>
              <a:rPr sz="1100" dirty="0">
                <a:solidFill>
                  <a:srgbClr val="5A6A7A"/>
                </a:solidFill>
              </a:rPr>
              <a:t> parameter drift? If so, we re-fit — we do not silently ignore.
• Recommendation vs. final decision logged per SKU per week, with reason if overridden.
• Every explanation in the UI is labelled with its source ('</a:t>
            </a:r>
            <a:r>
              <a:rPr sz="1100" dirty="0" err="1">
                <a:solidFill>
                  <a:srgbClr val="5A6A7A"/>
                </a:solidFill>
              </a:rPr>
              <a:t>llm</a:t>
            </a:r>
            <a:r>
              <a:rPr sz="1100" dirty="0">
                <a:solidFill>
                  <a:srgbClr val="5A6A7A"/>
                </a:solidFill>
              </a:rPr>
              <a:t>' or 'template') so that the evaluation loop can detect LLM-path regressions.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112772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A6A7A"/>
                </a:solidFill>
              </a:rPr>
              <a:t>Atlas Paints &amp; Tools — AI Transformation Proposal  ·  23/26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822960"/>
            <a:ext cx="12191695" cy="45720"/>
          </a:xfrm>
          <a:prstGeom prst="rect">
            <a:avLst/>
          </a:prstGeom>
          <a:solidFill>
            <a:srgbClr val="E67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127729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FFFF"/>
                </a:solidFill>
              </a:rPr>
              <a:t>Risk &amp; Ethics Checklist</a:t>
            </a:r>
          </a:p>
          <a:p>
            <a:r>
              <a:rPr sz="1200">
                <a:solidFill>
                  <a:srgbClr val="F4F6F8"/>
                </a:solidFill>
              </a:rPr>
              <a:t>Top operational risks + Module-12-aligned ethics posture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274320" y="1143000"/>
          <a:ext cx="11612880" cy="35726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032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9032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9032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9032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9638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Risk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L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Mitigation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96388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R1. Inventory accuracy poor → wrong reorders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High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Critical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Phase 0 cycle count is a hard prerequisite for go-live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96388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R2. Weak forecast on low-volume hardware (MAPE ~70%)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Med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Med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Service level + safety stock absorbs error by design; Croston in Phase 2.5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96388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R3. Staff distrust the recommendations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Med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High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2-week paper-parallel UAT creates evidence; plain-language 'why' aids adoption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96388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R4. Connectivity drops disable LLM explanations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High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Low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Deterministic template fallback runs fully offline with the same numbers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96388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R5. FX / import volatility shifts lead times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High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Med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Lead-time buffer % is a tunable UI parameter; monthly re-fit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96392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R6. LLM hallucinates a number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Low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Med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Automated grounding check rejects any ungrounded figure → auto-fallback to deterministic template; source labeled in UI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274320" y="4754880"/>
            <a:ext cx="11612880" cy="1737360"/>
          </a:xfrm>
          <a:prstGeom prst="roundRect">
            <a:avLst/>
          </a:prstGeom>
          <a:solidFill>
            <a:srgbClr val="F4F6F8"/>
          </a:solidFill>
          <a:ln w="15875">
            <a:solidFill>
              <a:srgbClr val="E67E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57200" y="4892040"/>
            <a:ext cx="112471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1F2A44"/>
                </a:solidFill>
              </a:rPr>
              <a:t>ETHICS CHECKLIST (Module 12)</a:t>
            </a:r>
          </a:p>
          <a:p>
            <a:r>
              <a:rPr sz="1100">
                <a:solidFill>
                  <a:srgbClr val="5A6A7A"/>
                </a:solidFill>
              </a:rPr>
              <a:t>✓ Human-in-the-loop — system recommends, human places POs     ✓ No PII — product + supplier data only     ✓ Audit log — every rec + decision stored weekly
✓ LLM bounded — enforced grounding check; ungrounded output auto-falls back to template     ✓ Source-labelled output — 'llm' vs 'template' shown per explanation     ✓ Opt-out — LLM path is optional, fully offline mode is first-class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92240"/>
            <a:ext cx="112772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A6A7A"/>
                </a:solidFill>
              </a:rPr>
              <a:t>Atlas Paints &amp; Tools — AI Transformation Proposal  ·  24/26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822960"/>
            <a:ext cx="12191695" cy="45720"/>
          </a:xfrm>
          <a:prstGeom prst="rect">
            <a:avLst/>
          </a:prstGeom>
          <a:solidFill>
            <a:srgbClr val="E67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127729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FFFF"/>
                </a:solidFill>
              </a:rPr>
              <a:t>Key Decisions &amp; Next Steps</a:t>
            </a:r>
          </a:p>
          <a:p>
            <a:r>
              <a:rPr sz="1200">
                <a:solidFill>
                  <a:srgbClr val="F4F6F8"/>
                </a:solidFill>
              </a:rPr>
              <a:t>What Atlas needs to approve for S0–S1 to start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548640"/>
            <a:ext cx="5669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1F2A44"/>
                </a:solidFill>
              </a:rPr>
              <a:t>Decisions needed now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118382"/>
            <a:ext cx="56692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dirty="0">
                <a:solidFill>
                  <a:srgbClr val="1F2A44"/>
                </a:solidFill>
              </a:rPr>
              <a:t>• Approve Phase 0 — inventory-accuracy cycle count on hardware top-80% (GM + warehouse).</a:t>
            </a:r>
          </a:p>
          <a:p>
            <a:pPr>
              <a:spcAft>
                <a:spcPts val="400"/>
              </a:spcAft>
            </a:pPr>
            <a:r>
              <a:rPr sz="1200" dirty="0">
                <a:solidFill>
                  <a:srgbClr val="1F2A44"/>
                </a:solidFill>
              </a:rPr>
              <a:t>• Confirm consultant engagement S1–S4 (~8 person-weeks over 2 months).</a:t>
            </a:r>
          </a:p>
          <a:p>
            <a:pPr>
              <a:spcAft>
                <a:spcPts val="400"/>
              </a:spcAft>
            </a:pPr>
            <a:r>
              <a:rPr sz="1200" dirty="0">
                <a:solidFill>
                  <a:srgbClr val="1F2A44"/>
                </a:solidFill>
              </a:rPr>
              <a:t>• Decide LLM opt-in: enable ANTHROPIC_API_KEY, or ship offline-template-only.</a:t>
            </a:r>
          </a:p>
          <a:p>
            <a:pPr>
              <a:spcAft>
                <a:spcPts val="400"/>
              </a:spcAft>
            </a:pPr>
            <a:r>
              <a:rPr sz="1200" dirty="0">
                <a:solidFill>
                  <a:srgbClr val="1F2A44"/>
                </a:solidFill>
              </a:rPr>
              <a:t>• Agree weekly review cadence + named decision-makers (GM + procurement lead).</a:t>
            </a:r>
          </a:p>
          <a:p>
            <a:pPr>
              <a:spcAft>
                <a:spcPts val="400"/>
              </a:spcAft>
            </a:pPr>
            <a:r>
              <a:rPr sz="1200" dirty="0">
                <a:solidFill>
                  <a:srgbClr val="1F2A44"/>
                </a:solidFill>
              </a:rPr>
              <a:t>• Sign off on the success criteria on slides 14 + 15 as the 12-month scorecard.</a:t>
            </a:r>
          </a:p>
          <a:p>
            <a:pPr>
              <a:spcAft>
                <a:spcPts val="400"/>
              </a:spcAft>
            </a:pPr>
            <a:r>
              <a:rPr sz="1200" dirty="0">
                <a:solidFill>
                  <a:srgbClr val="1F2A44"/>
                </a:solidFill>
              </a:rPr>
              <a:t>• Schedule S5 UAT kick-off meeting (paper-parallel run with both processes).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0" y="1097280"/>
            <a:ext cx="5394960" cy="5303520"/>
          </a:xfrm>
          <a:prstGeom prst="roundRect">
            <a:avLst/>
          </a:prstGeom>
          <a:solidFill>
            <a:srgbClr val="F4F6F8"/>
          </a:solidFill>
          <a:ln w="15875">
            <a:solidFill>
              <a:srgbClr val="E67E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766560" y="1441937"/>
            <a:ext cx="4681025" cy="21544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 dirty="0">
                <a:solidFill>
                  <a:srgbClr val="1F2A44"/>
                </a:solidFill>
              </a:rPr>
              <a:t>FIRST 30 DAYS IF APPROVED</a:t>
            </a:r>
          </a:p>
          <a:p>
            <a:r>
              <a:rPr sz="1100" dirty="0">
                <a:solidFill>
                  <a:srgbClr val="5A6A7A"/>
                </a:solidFill>
              </a:rPr>
              <a:t>Week 1 — Kick-off; ERP extract permissions confirmed; Phase 0 cycle count begins on hardware top-80% SKUs.
Week 2 — Scheduled weekly SQL extract running; SQLite cache validated; 10-yr history ingested.
Week 3 — Forecasting module v1 on real data; first MAPE-by-segment report shared with GM.
Week 4 — Reorder engine integrated; historical-stockout replay presented to GM as evidence ahead of S4 UI build.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112772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A6A7A"/>
                </a:solidFill>
              </a:rPr>
              <a:t>Atlas Paints &amp; Tools — AI Transformation Proposal  ·  25/26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2286000"/>
            <a:ext cx="10972800" cy="274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6000" b="1">
                <a:solidFill>
                  <a:srgbClr val="FFFFFF"/>
                </a:solidFill>
              </a:rPr>
              <a:t>Thank You!</a:t>
            </a:r>
          </a:p>
          <a:p>
            <a:r>
              <a:rPr sz="1600">
                <a:solidFill>
                  <a:srgbClr val="E67E22"/>
                </a:solidFill>
              </a:rPr>
              <a:t>Karim Khalifeh  ·  ZAKA Certified AI Consultant  ·  April 2026</a:t>
            </a:r>
          </a:p>
          <a:p>
            <a:r>
              <a:rPr sz="1400">
                <a:solidFill>
                  <a:srgbClr val="F4F6F8"/>
                </a:solidFill>
              </a:rPr>
              <a:t>Questions &amp; discussion welcome.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5234D702-518B-BA44-B8C6-E76E55049235}">
  <we:reference id="wa200010001" version="1.0.0.1" store="en-US" storeType="OMEX"/>
  <we:alternateReferences>
    <we:reference id="wa200010001" version="1.0.0.1" store="en-US" storeType="OMEX"/>
  </we:alternateReferences>
  <we:properties>
    <we:property name="claude.fileId" value="&quot;b179afdc-6d97-40a9-8487-12cf7f9eed91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5546</TotalTime>
  <Words>3773</Words>
  <Application>Microsoft Macintosh PowerPoint</Application>
  <PresentationFormat>Widescreen</PresentationFormat>
  <Paragraphs>404</Paragraphs>
  <Slides>26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29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Karim Khalifeh</cp:lastModifiedBy>
  <cp:revision>3</cp:revision>
  <dcterms:created xsi:type="dcterms:W3CDTF">2013-01-27T09:14:16Z</dcterms:created>
  <dcterms:modified xsi:type="dcterms:W3CDTF">2026-06-02T11:52:53Z</dcterms:modified>
  <cp:category/>
</cp:coreProperties>
</file>