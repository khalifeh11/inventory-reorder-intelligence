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560320"/>
            <a:ext cx="1097280" cy="73152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9728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4400">
                <a:solidFill>
                  <a:srgbClr val="FFFFFF"/>
                </a:solidFill>
              </a:rPr>
              <a:t>AI Transformation Proposal</a:t>
            </a:r>
          </a:p>
          <a:p>
            <a:r>
              <a:rPr sz="2800">
                <a:solidFill>
                  <a:srgbClr val="E67E22"/>
                </a:solidFill>
              </a:rPr>
              <a:t>Inventory Reorder Intelligence</a:t>
            </a:r>
          </a:p>
          <a:p>
            <a:r>
              <a:rPr sz="2000">
                <a:solidFill>
                  <a:srgbClr val="F4F6F8"/>
                </a:solidFill>
              </a:rPr>
              <a:t>
Atlas Paints &amp;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F4F6F8"/>
                </a:solidFill>
              </a:rPr>
              <a:t>Submitted by: Karim Khalifeh</a:t>
            </a:r>
          </a:p>
          <a:p>
            <a:r>
              <a:rPr sz="1200">
                <a:solidFill>
                  <a:srgbClr val="F4F6F8"/>
                </a:solidFill>
              </a:rPr>
              <a:t>Program: ZAKA Certified AI Consultant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400">
                <a:solidFill>
                  <a:srgbClr val="FFFFFF"/>
                </a:solidFill>
              </a:rPr>
              <a:t>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280160"/>
            <a:ext cx="9601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2A44"/>
                </a:solidFill>
              </a:rPr>
              <a:t>• Executive Overview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2A44"/>
                </a:solidFill>
              </a:rPr>
              <a:t>• Use Case Selection &amp; Scope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2A44"/>
                </a:solidFill>
              </a:rPr>
              <a:t>• Technical Architecture</a:t>
            </a:r>
          </a:p>
          <a:p>
            <a:pPr>
              <a:spcAft>
                <a:spcPts val="400"/>
              </a:spcAft>
            </a:pPr>
            <a:r>
              <a:rPr sz="2000">
                <a:solidFill>
                  <a:srgbClr val="1F2A44"/>
                </a:solidFill>
              </a:rPr>
              <a:t>• Commercial &amp; Pricing Considerations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2/26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926080"/>
            <a:ext cx="1097280" cy="73152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4800">
                <a:solidFill>
                  <a:srgbClr val="FFFFFF"/>
                </a:solidFill>
              </a:rPr>
              <a:t>Executive Overview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400">
                <a:solidFill>
                  <a:srgbClr val="FFFFFF"/>
                </a:solidFill>
              </a:rPr>
              <a:t>Executive Overview (1)</a:t>
            </a:r>
          </a:p>
          <a:p>
            <a:r>
              <a:rPr sz="1200">
                <a:solidFill>
                  <a:srgbClr val="F4F6F8"/>
                </a:solidFill>
              </a:rPr>
              <a:t>The problem Atlas is solving, and what this initiative delivers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914400"/>
            <a:ext cx="10332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Atlas Paints &amp; Tools — a family-owned Lebanese paint manufacturer and hardware / power-tools wholesaler — is losing revenue because procurement is reactive.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Hardware imports are ordered only after a SKU hits zero, triggering stockouts that routinely last 2+ months (entire supplier lead time).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In parallel, slow-moving items accumulate as deadstock because reorder points have never been formalized in the ERP.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This proposal: Inventory Reorder Intelligence — a statistical forecasting + classical reorder-point system that turns 10+ years of existing ERP data into weekly reorder recommendations with plain-language explanations.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Runs fully on-prem. No cloud dependency. No ML tooling. Matches Atlas's unreliable internet and zero-budget reality.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Human-in-the-loop: the system recommends; the GM and procurement approve; the existing manual PO workflow continues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4/26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400">
                <a:solidFill>
                  <a:srgbClr val="FFFFFF"/>
                </a:solidFill>
              </a:rPr>
              <a:t>Executive Overview (2)</a:t>
            </a:r>
          </a:p>
          <a:p>
            <a:r>
              <a:rPr sz="1200">
                <a:solidFill>
                  <a:srgbClr val="F4F6F8"/>
                </a:solidFill>
              </a:rPr>
              <a:t>Priority Initiative — the top Business Impact × Feasibility candidate in the roadmap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852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Lever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Current state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Target with this initiative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Stockout duration on import SKUs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~2 months (full lead time)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&lt;2 weeks on &gt;80% of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Deadstock tied in slow-movers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not on a dashboard; ~20–30% from GM discovery (measurable from QTY_ONHAND + QOUT history)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reduce 30–50% in year 1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Procurement decisions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reactive, discovered via stockout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 review cycle / week, proactive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Inventory working-capital visibility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general ledger only — no SKU-level coverage / deadstock / forecast view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weekly dashboard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48056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2A44"/>
                </a:solidFill>
              </a:rPr>
              <a:t>Selected from the 2nd-deliverable roadmap as the top Phase-2 initiative — Business Impact 3.8 / Feasibility 3.8 (the 'Priority Initiative' quadrant).</a:t>
            </a:r>
          </a:p>
          <a:p>
            <a:r>
              <a:rPr sz="1100" i="1">
                <a:solidFill>
                  <a:srgbClr val="5A6A7A"/>
                </a:solidFill>
              </a:rPr>
              <a:t>Figures above are illustrative ranges, not commitments. Year-1 gains depend on execution plus the Phase 0 inventory-accuracy prerequisite.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5/26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926080"/>
            <a:ext cx="1097280" cy="73152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4800">
                <a:solidFill>
                  <a:srgbClr val="FFFFFF"/>
                </a:solidFill>
              </a:rPr>
              <a:t>Use Case Selection &amp; Scope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400">
                <a:solidFill>
                  <a:srgbClr val="FFFFFF"/>
                </a:solidFill>
              </a:rPr>
              <a:t>Use Case Selection (1)</a:t>
            </a:r>
          </a:p>
          <a:p>
            <a:r>
              <a:rPr sz="1200">
                <a:solidFill>
                  <a:srgbClr val="F4F6F8"/>
                </a:solidFill>
              </a:rPr>
              <a:t>Prioritization matrix — why Use Case B was chosen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Use Case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Feasibility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Quadrant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Production Planning &amp; Cost Optimization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Strategic Bet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Inventory Reorder Intelligence  ← selected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3.8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3.8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Priority Initiative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Customer Profitability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Quick 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Pricing Optimization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2.6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4.6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Quick Win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Sales Forecasting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Quick 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54880"/>
            <a:ext cx="110642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1F2A44"/>
                </a:solidFill>
              </a:rPr>
              <a:t>B is the single best impact-per-effort candidate in Atlas's portfolio and the first initiative in the roadmap where the deliverable is a working planning system — a step up from the dashboard-grade Quick Wins (C, D) that precede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7/26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400">
                <a:solidFill>
                  <a:srgbClr val="FFFFFF"/>
                </a:solidFill>
              </a:rPr>
              <a:t>Use Case Selection (2)</a:t>
            </a:r>
          </a:p>
          <a:p>
            <a:r>
              <a:rPr sz="1200">
                <a:solidFill>
                  <a:srgbClr val="F4F6F8"/>
                </a:solidFill>
              </a:rPr>
              <a:t>Justification — why this works for Atlas specifically, right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7315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Pain is concrete and measurable. 2-month stockouts and deadstock accumulation were surfaced by the GM during 1st-deliverable discovery — they translate directly into lost sales and tied-up working capital.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Data exists and is clean. 10+ years of sales, BOM, POs and inventory snapshots are already in the ERP and SQL-accessible. Lead times are known per supplier.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Technique is mature and transparent. Classical reorder-point + safety stock has been the inventory-theory standard since the 1950s — no black box, which matters for a company with zero AI experience and no internal data team.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Phase 0 is already scheduled. Inventory-accuracy cycle counting + populating reorder-point fields in the ERP is the named Phase 0 in the roadmap; this initiative consumes that output directly.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Organizational fit. 16-person company, direct-decision-maker GM — a weekly review cadence is realistic from week one with no multi-layer change management.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8/26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400">
                <a:solidFill>
                  <a:srgbClr val="FFFFFF"/>
                </a:solidFill>
              </a:rPr>
              <a:t>Business Objective</a:t>
            </a:r>
          </a:p>
          <a:p>
            <a:r>
              <a:rPr sz="1200">
                <a:solidFill>
                  <a:srgbClr val="F4F6F8"/>
                </a:solidFill>
              </a:rPr>
              <a:t>What the Monday-morning workflow looks like, and the dual value lever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4864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A44"/>
                </a:solidFill>
              </a:rPr>
              <a:t>Target-state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5760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Every Monday, GM + procurement open a local dashboard.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AI briefing up top: which few orders truly matter now, what to defer, where to consolidate by supplier.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SKUs to reorder this week — ranked by stockout risk and PO value.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Why each SKU — plain-language 2–3 sentence explanation.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Suggested order qty, expected arrival date, total PO value.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Drill-down: 10-yr history + forward forecast per SKU.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Procurement reviews, approves (or edits), sends POs through the existing manual channel.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Monthly: accuracy review + service-level tuning per SKU segment.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097280"/>
            <a:ext cx="5303520" cy="530352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234440"/>
            <a:ext cx="49377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2A44"/>
                </a:solidFill>
              </a:rPr>
              <a:t>DUAL VALUE LEVER</a:t>
            </a:r>
          </a:p>
          <a:p>
            <a:r>
              <a:rPr sz="1100">
                <a:solidFill>
                  <a:srgbClr val="5A6A7A"/>
                </a:solidFill>
              </a:rPr>
              <a:t>1. AVOID REVENUE LOSS
   Prevent stockouts on hardware imports — the primary revenue category — where a SKU at zero means B2B customers buy from competitors for 2 months.
2. RELEASE WORKING CAPITAL
   Stop over-ordering slow-movers. Coverage-days become visible; deadstock surfaces for the first time.
This combined effect is typically the largest single P&amp;L move a small wholesaler can make — even with a basic statistical baseline. 2nd-deliverable Business Impact score: 3.8 / 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9/26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400">
                <a:solidFill>
                  <a:srgbClr val="FFFFFF"/>
                </a:solidFill>
              </a:rPr>
              <a:t>In Scope Boundaries</a:t>
            </a:r>
          </a:p>
          <a:p>
            <a:r>
              <a:rPr sz="1200">
                <a:solidFill>
                  <a:srgbClr val="F4F6F8"/>
                </a:solidFill>
              </a:rPr>
              <a:t>What this initiative will deliver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7315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Weekly reorder recommendations for active paint + hardware SKUs (~200–500, subject to S2 velocity analysis; ERP Stock master holds 18,533 records incl. raw materials / packaging / discontinued).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Forecast horizon = supplier lead time + review period (typically 7–75 days per SKU).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Human sign-off UI: GM / procurement lead reviews and approves recommendations before any PO is sent.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Weekly AI briefing (triage + supplier consolidation) + plain-language 'why' per recommendation (LLM-generated, grounding-checked; offline template fallback).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Backtest MAPE + stockout-days tracking dashboard for continuous improvement.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Runs on the existing on-prem server — no cloud dependency; LAN-only browser access.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10/26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400">
                <a:solidFill>
                  <a:srgbClr val="FFFFFF"/>
                </a:solidFill>
              </a:rPr>
              <a:t>Out of Scope Boundaries</a:t>
            </a:r>
          </a:p>
          <a:p>
            <a:r>
              <a:rPr sz="1200">
                <a:solidFill>
                  <a:srgbClr val="F4F6F8"/>
                </a:solidFill>
              </a:rPr>
              <a:t>What is explicitly excluded — to protect scope and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7315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Direct EDI / API integration with suppliers. Manual PO placement through the existing workflow continues.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Multi-location inventory balancing. Atlas is single-location for the SKUs in scope.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Production scheduling. That is Phase 3 (Use Case A); this initiative feeds it but does not solve it.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ML models beyond the statistical baseline (Croston, TSB, Prophet, etc.) — queued as Phase 2.5 if the baseline underperforms on specific SKU segments.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Automated PO placement. No machine action against supplier systems in this phase.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11/26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400">
                <a:solidFill>
                  <a:srgbClr val="FFFFFF"/>
                </a:solidFill>
              </a:rPr>
              <a:t>Appropriate AI Approach</a:t>
            </a:r>
          </a:p>
          <a:p>
            <a:r>
              <a:rPr sz="1200">
                <a:solidFill>
                  <a:srgbClr val="F4F6F8"/>
                </a:solidFill>
              </a:rPr>
              <a:t>Statistical forecasting + classical ROP + bounded LLM layer (weekly briefing + explanations)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4864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A44"/>
                </a:solidFill>
              </a:rPr>
              <a:t>The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5669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Forecast: moving average + multiplicative monthly seasonality, per SKU.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5A6A7A"/>
                </a:solidFill>
              </a:rPr>
              <a:t>– we learn each SKU's normal monthly rhythm and project it forward.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Deseasonalize trailing 180 days → baseline daily demand; reinflate over horizon.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5A6A7A"/>
                </a:solidFill>
              </a:rPr>
              <a:t>– strip out the seasonal bump to see true baseline, then add it back for the forecast month.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Reorder: ROP = avg_daily_demand × lead_time + safety_stock.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5A6A7A"/>
                </a:solidFill>
              </a:rPr>
              <a:t>– order when stock drops below what you'll sell during the wait + a buffer.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Buffer: safety_stock = z(SL) × σ × √LT.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5A6A7A"/>
                </a:solidFill>
              </a:rPr>
              <a:t>– the noisier the demand or the longer the wait, the more buffer you hold.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Defaults: service level 95% (z ≈ 1.645), review period 14 days.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5A6A7A"/>
                </a:solidFill>
              </a:rPr>
              <a:t>– accept stockout on 1 review cycle in 20; revisit each SKU every 2 weeks.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LLM layer (Claude Haiku): weekly triage briefing + per-SKU 'why'.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5A6A7A"/>
                </a:solidFill>
              </a:rPr>
              <a:t>– synthesises act-now / defer / consolidate; a grounding check rejects any invented figure → template fallback.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097280"/>
            <a:ext cx="5394960" cy="530352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23444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2A44"/>
                </a:solidFill>
              </a:rPr>
              <a:t>WHY NOT A FULL ML / AGENT SOLUTION</a:t>
            </a:r>
          </a:p>
          <a:p>
            <a:r>
              <a:rPr sz="1100">
                <a:solidFill>
                  <a:srgbClr val="5A6A7A"/>
                </a:solidFill>
              </a:rPr>
              <a:t>• Start with a transparent baseline the business understands — ML is a Phase 2.5 upgrade path if specific SKU segments underperform.
• A conversational agent over the ERP (text-to-SQL, multi-step reasoning) is over-scoped: Atlas has no team to maintain a production LLM pipeline, connectivity is unreliable, and the GM's question pattern is narrow ('what do I order this week?') — a dashboard answers it directly.
• The bounded LLM layer adds genuine value — it triages the weekly batch (which orders matter, what to defer, where to consolidate by supplier) and explains each call in plain language — without creating an operational dependency Atlas cannot support. A grounding check keeps it from inventing figures.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12/26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400">
                <a:solidFill>
                  <a:srgbClr val="FFFFFF"/>
                </a:solidFill>
              </a:rPr>
              <a:t>Data Readiness and Constraints</a:t>
            </a:r>
          </a:p>
          <a:p>
            <a:r>
              <a:rPr sz="1200">
                <a:solidFill>
                  <a:srgbClr val="F4F6F8"/>
                </a:solidFill>
              </a:rPr>
              <a:t>Five ERP tables, no PII, no external data — all on-prem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1F2A44"/>
                </a:solidFill>
              </a:rPr>
              <a:t>Five ERP tables already owned by Atlas — a decade of data, no new collection needed.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Table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Key columns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products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Catalogue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sku_id, name, category, unit_cost, lead_time_days, supplier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sales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10+ yr demand history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sale_date, sku_id, quantity, unit_price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inventory_snapshots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On-hand, historical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snapshot_date, sku_id, on_hand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purchase_orders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Open + historical POs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sku_id, order_date, eta_date, received_date, qty, status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bom (future)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For Phase 3 production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not used in this initiative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6576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2A44"/>
                </a:solidFill>
              </a:rPr>
              <a:t>Real-ERP mapping for S1: </a:t>
            </a:r>
            <a:r>
              <a:rPr sz="1000" i="1">
                <a:solidFill>
                  <a:srgbClr val="5A6A7A"/>
                </a:solidFill>
              </a:rPr>
              <a:t>products→Stock (18,533 rows; QTY_ONHAND, MINIMUMQTY, ORDER_TIME, SUPPLIER). sales→Invoice (167,199) + Invod (959,200) filtered Type='Sale'. inventory_snapshots→derived from Invod.QIN/QOUT history (weekly snapshots materialised in S1). purchase_orders→Invoice Type='Purchase' / prefix PU00. bom→Asm (91,170).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54864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A44"/>
                </a:solidFill>
              </a:rPr>
              <a:t>Data posture + constraints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00584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1F2A44"/>
                </a:solidFill>
              </a:rPr>
              <a:t>• No PII. Product + supplier data only; customer data is not touched by this initiative.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F2A44"/>
                </a:solidFill>
              </a:rPr>
              <a:t>• On-prem SQL-only ERP with 10+ years of history — enough signal for statistical forecasting.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F2A44"/>
                </a:solidFill>
              </a:rPr>
              <a:t>• Constraints: unreliable internet, zero cloud budget, no internal IT / data team.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F2A44"/>
                </a:solidFill>
              </a:rPr>
              <a:t>• Inventory-accuracy (Phase 0 cycle count) is a hard prerequisite; the math is only as good as the on-hand figures it reads.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13/26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400">
                <a:solidFill>
                  <a:srgbClr val="FFFFFF"/>
                </a:solidFill>
              </a:rPr>
              <a:t>Technical Success Criteria</a:t>
            </a:r>
          </a:p>
          <a:p>
            <a:r>
              <a:rPr sz="1200">
                <a:solidFill>
                  <a:srgbClr val="F4F6F8"/>
                </a:solidFill>
              </a:rPr>
              <a:t>Measurable, per-SKU-segment; tracked weekly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6400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Definition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Target (12 mo post-launch)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Forecast MAPE — paint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mean abs pct error, monthly forecast vs 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≤ 20% median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Forecast MAPE — hardware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same (lumpy demand; safety stock compensates)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≤ 50% median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PO placement lead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days from weekly review to PO sent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≤ 2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Service-level compliance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actual fill-rate vs. configured SL per segment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≥ 95% on top-80% SKUs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Pipeline runtime (weekly)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end-to-end: extract → forecast → reorder → UI refresh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&lt; 10 minutes on on-prem server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LLM fallback coverage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% of recommendations with an explanation (llm OR template)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LLM numeric-grounding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% AI outputs whose every figure traces to the engine (else auto-fallback)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14/26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400">
                <a:solidFill>
                  <a:srgbClr val="FFFFFF"/>
                </a:solidFill>
              </a:rPr>
              <a:t>Business Success Criteria</a:t>
            </a:r>
          </a:p>
          <a:p>
            <a:r>
              <a:rPr sz="1200">
                <a:solidFill>
                  <a:srgbClr val="F4F6F8"/>
                </a:solidFill>
              </a:rPr>
              <a:t>The P&amp;L and behavioural metrics that define a successful roll-out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300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7315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Definition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Target (12 mo post-launch)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Stockout-days avoided (top-20% SKUs)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YoY change in days a top-20% SKU was below ROP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−40%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Deadstock reduction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$ value of SKUs with &gt;6 months of coverage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−30%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Recommendation acceptance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% of recommendations approved as-is by GM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≥ 70% by month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Weekly review cadence established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weeks / 12 with a Monday review executed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≥ 10 / 12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Decisions-per-month (planned)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procurement decisions made on schedule vs. reactive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≥ 4 planned /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607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A6A7A"/>
                </a:solidFill>
              </a:rPr>
              <a:t>Targets are illustrative ranges — year-1 gains depend on execution and the Phase 0 inventory-accuracy prerequisite. No figure is a commitment.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15/26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926080"/>
            <a:ext cx="1097280" cy="73152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4800">
                <a:solidFill>
                  <a:srgbClr val="FFFFFF"/>
                </a:solidFill>
              </a:rPr>
              <a:t>Technical Architecture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400">
                <a:solidFill>
                  <a:srgbClr val="FFFFFF"/>
                </a:solidFill>
              </a:rPr>
              <a:t>Data Flow</a:t>
            </a:r>
          </a:p>
          <a:p>
            <a:r>
              <a:rPr sz="1200">
                <a:solidFill>
                  <a:srgbClr val="F4F6F8"/>
                </a:solidFill>
              </a:rPr>
              <a:t>Weekly read-only extract → forecast → reorder → explain → human sign-off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1F2A44"/>
                </a:solidFill>
              </a:rPr>
              <a:t>What happens every Monday, step by step.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114300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F2A44"/>
                </a:solidFill>
                <a:latin typeface="Menlo"/>
              </a:rPr>
              <a:t>ERP (SQL, read-only)                     5 tables, 10+ yr history, ~200–500 active SKUs (subject to S2 velocity analysis)</a:t>
            </a:r>
          </a:p>
          <a:p>
            <a:r>
              <a:rPr sz="1100">
                <a:solidFill>
                  <a:srgbClr val="1F2A44"/>
                </a:solidFill>
                <a:latin typeface="Menlo"/>
              </a:rPr>
              <a:t>      │  weekly extract (SELECT only, no writes)</a:t>
            </a:r>
          </a:p>
          <a:p>
            <a:r>
              <a:rPr sz="1100">
                <a:solidFill>
                  <a:srgbClr val="1F2A44"/>
                </a:solidFill>
                <a:latin typeface="Menlo"/>
              </a:rPr>
              <a:t>      ▼</a:t>
            </a:r>
          </a:p>
          <a:p>
            <a:r>
              <a:rPr sz="1100">
                <a:solidFill>
                  <a:srgbClr val="1F2A44"/>
                </a:solidFill>
                <a:latin typeface="Menlo"/>
              </a:rPr>
              <a:t>Local SQLite cache (≈10 MB)              refreshed weekly on the on-prem server</a:t>
            </a:r>
          </a:p>
          <a:p>
            <a:r>
              <a:rPr sz="1100">
                <a:solidFill>
                  <a:srgbClr val="1F2A44"/>
                </a:solidFill>
                <a:latin typeface="Menlo"/>
              </a:rPr>
              <a:t>      │</a:t>
            </a:r>
          </a:p>
          <a:p>
            <a:r>
              <a:rPr sz="1100">
                <a:solidFill>
                  <a:srgbClr val="1F2A44"/>
                </a:solidFill>
                <a:latin typeface="Menlo"/>
              </a:rPr>
              <a:t>      ▼</a:t>
            </a:r>
          </a:p>
          <a:p>
            <a:r>
              <a:rPr sz="1100">
                <a:solidFill>
                  <a:srgbClr val="1F2A44"/>
                </a:solidFill>
                <a:latin typeface="Menlo"/>
              </a:rPr>
              <a:t>Forecasting engine  ─── moving avg + multiplicative seasonality   (pandas + numpy)</a:t>
            </a:r>
          </a:p>
          <a:p>
            <a:r>
              <a:rPr sz="1100">
                <a:solidFill>
                  <a:srgbClr val="1F2A44"/>
                </a:solidFill>
                <a:latin typeface="Menlo"/>
              </a:rPr>
              <a:t>      │  (forecast + uncertainty + seasonal factor)</a:t>
            </a:r>
          </a:p>
          <a:p>
            <a:r>
              <a:rPr sz="1100">
                <a:solidFill>
                  <a:srgbClr val="1F2A44"/>
                </a:solidFill>
                <a:latin typeface="Menlo"/>
              </a:rPr>
              <a:t>      ▼</a:t>
            </a:r>
          </a:p>
          <a:p>
            <a:r>
              <a:rPr sz="1100">
                <a:solidFill>
                  <a:srgbClr val="1F2A44"/>
                </a:solidFill>
                <a:latin typeface="Menlo"/>
              </a:rPr>
              <a:t>Reorder engine      ─── Reorder point + buffer (ROP + safety stock)</a:t>
            </a:r>
          </a:p>
          <a:p>
            <a:r>
              <a:rPr sz="1100">
                <a:solidFill>
                  <a:srgbClr val="1F2A44"/>
                </a:solidFill>
                <a:latin typeface="Menlo"/>
              </a:rPr>
              <a:t>      │</a:t>
            </a:r>
          </a:p>
          <a:p>
            <a:r>
              <a:rPr sz="1100">
                <a:solidFill>
                  <a:srgbClr val="1F2A44"/>
                </a:solidFill>
                <a:latin typeface="Menlo"/>
              </a:rPr>
              <a:t>      ├─────────▶  LLM (Claude Haiku)    optional, cloud — weekly briefing + per-SKU explanation</a:t>
            </a:r>
          </a:p>
          <a:p>
            <a:r>
              <a:rPr sz="1100">
                <a:solidFill>
                  <a:srgbClr val="1F2A44"/>
                </a:solidFill>
                <a:latin typeface="Menlo"/>
              </a:rPr>
              <a:t>      │◀─────────   OR offline template  deterministic fallback; grounding check guards every figure</a:t>
            </a:r>
          </a:p>
          <a:p>
            <a:r>
              <a:rPr sz="1100">
                <a:solidFill>
                  <a:srgbClr val="1F2A44"/>
                </a:solidFill>
                <a:latin typeface="Menlo"/>
              </a:rPr>
              <a:t>      ▼</a:t>
            </a:r>
          </a:p>
          <a:p>
            <a:r>
              <a:rPr sz="1100">
                <a:solidFill>
                  <a:srgbClr val="1F2A44"/>
                </a:solidFill>
                <a:latin typeface="Menlo"/>
              </a:rPr>
              <a:t>Streamlit UI  (LAN-only)   Dashboard · SKU Drilldown · What-if     1–3 concurrent users</a:t>
            </a:r>
          </a:p>
          <a:p>
            <a:r>
              <a:rPr sz="1100">
                <a:solidFill>
                  <a:srgbClr val="1F2A44"/>
                </a:solidFill>
                <a:latin typeface="Menlo"/>
              </a:rPr>
              <a:t>      │</a:t>
            </a:r>
          </a:p>
          <a:p>
            <a:r>
              <a:rPr sz="1100">
                <a:solidFill>
                  <a:srgbClr val="1F2A44"/>
                </a:solidFill>
                <a:latin typeface="Menlo"/>
              </a:rPr>
              <a:t>      ▼</a:t>
            </a:r>
          </a:p>
          <a:p>
            <a:r>
              <a:rPr sz="1100">
                <a:solidFill>
                  <a:srgbClr val="1F2A44"/>
                </a:solidFill>
                <a:latin typeface="Menlo"/>
              </a:rPr>
              <a:t>Human sign-off  ─▶  Manual PO to supplier  ─▶  ERP update  (existing workflow, unchanged)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1264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A6A7A"/>
                </a:solidFill>
              </a:rPr>
              <a:t>Every arrow is read-only against the ERP except the final step — a human places the PO through the existing process.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17/26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400">
                <a:solidFill>
                  <a:srgbClr val="FFFFFF"/>
                </a:solidFill>
              </a:rPr>
              <a:t>Technical Architecture</a:t>
            </a:r>
          </a:p>
          <a:p>
            <a:r>
              <a:rPr sz="1200">
                <a:solidFill>
                  <a:srgbClr val="F4F6F8"/>
                </a:solidFill>
              </a:rPr>
              <a:t>Single on-prem server; LLM path is optional and degrades gracefully offline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1F2A44"/>
                </a:solidFill>
              </a:rPr>
              <a:t>One small Python service on your existing server. The LLM call is optional and degrades gracefully.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11430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F2A44"/>
                </a:solidFill>
                <a:latin typeface="Menlo"/>
              </a:rPr>
              <a:t>┌─────────────────────────── Atlas on-prem server ──────────────────────────┐</a:t>
            </a:r>
          </a:p>
          <a:p>
            <a:r>
              <a:rPr sz="1000">
                <a:solidFill>
                  <a:srgbClr val="1F2A44"/>
                </a:solidFill>
                <a:latin typeface="Menlo"/>
              </a:rPr>
              <a:t>│                                                                              │</a:t>
            </a:r>
          </a:p>
          <a:p>
            <a:r>
              <a:rPr sz="1000">
                <a:solidFill>
                  <a:srgbClr val="1F2A44"/>
                </a:solidFill>
                <a:latin typeface="Menlo"/>
              </a:rPr>
              <a:t>│   ERP DB  ──▶  Python service  (venv, scheduled)  ──▶  SQLite cache         │</a:t>
            </a:r>
          </a:p>
          <a:p>
            <a:r>
              <a:rPr sz="1000">
                <a:solidFill>
                  <a:srgbClr val="1F2A44"/>
                </a:solidFill>
                <a:latin typeface="Menlo"/>
              </a:rPr>
              <a:t>│   MSSQL/       • extract   • forecasting                                    │</a:t>
            </a:r>
          </a:p>
          <a:p>
            <a:r>
              <a:rPr sz="1000">
                <a:solidFill>
                  <a:srgbClr val="1F2A44"/>
                </a:solidFill>
                <a:latin typeface="Menlo"/>
              </a:rPr>
              <a:t>│   custom       • reorder   • explain                                        │</a:t>
            </a:r>
          </a:p>
          <a:p>
            <a:r>
              <a:rPr sz="1000">
                <a:solidFill>
                  <a:srgbClr val="1F2A44"/>
                </a:solidFill>
                <a:latin typeface="Menlo"/>
              </a:rPr>
              <a:t>│                       │                                                     │</a:t>
            </a:r>
          </a:p>
          <a:p>
            <a:r>
              <a:rPr sz="1000">
                <a:solidFill>
                  <a:srgbClr val="1F2A44"/>
                </a:solidFill>
                <a:latin typeface="Menlo"/>
              </a:rPr>
              <a:t>│                       ▼                                                     │</a:t>
            </a:r>
          </a:p>
          <a:p>
            <a:r>
              <a:rPr sz="1000">
                <a:solidFill>
                  <a:srgbClr val="1F2A44"/>
                </a:solidFill>
                <a:latin typeface="Menlo"/>
              </a:rPr>
              <a:t>│              Streamlit app  (port 8501, LAN-only)                           │</a:t>
            </a:r>
          </a:p>
          <a:p>
            <a:r>
              <a:rPr sz="1000">
                <a:solidFill>
                  <a:srgbClr val="1F2A44"/>
                </a:solidFill>
                <a:latin typeface="Menlo"/>
              </a:rPr>
              <a:t>│                       │                                                     │</a:t>
            </a:r>
          </a:p>
          <a:p>
            <a:r>
              <a:rPr sz="1000">
                <a:solidFill>
                  <a:srgbClr val="1F2A44"/>
                </a:solidFill>
                <a:latin typeface="Menlo"/>
              </a:rPr>
              <a:t>└───────────────────────┼─────────────────────────────────────────────────────┘</a:t>
            </a:r>
          </a:p>
          <a:p>
            <a:r>
              <a:rPr sz="1000">
                <a:solidFill>
                  <a:srgbClr val="1F2A44"/>
                </a:solidFill>
                <a:latin typeface="Menlo"/>
              </a:rPr>
              <a:t>                        │  LAN</a:t>
            </a:r>
          </a:p>
          <a:p>
            <a:r>
              <a:rPr sz="1000">
                <a:solidFill>
                  <a:srgbClr val="1F2A44"/>
                </a:solidFill>
                <a:latin typeface="Menlo"/>
              </a:rPr>
              <a:t>                        ▼</a:t>
            </a:r>
          </a:p>
          <a:p>
            <a:r>
              <a:rPr sz="1000">
                <a:solidFill>
                  <a:srgbClr val="1F2A44"/>
                </a:solidFill>
                <a:latin typeface="Menlo"/>
              </a:rPr>
              <a:t>              GM + Procurement browsers</a:t>
            </a:r>
          </a:p>
          <a:p>
            <a:r>
              <a:rPr sz="1000">
                <a:solidFill>
                  <a:srgbClr val="1F2A44"/>
                </a:solidFill>
                <a:latin typeface="Menlo"/>
              </a:rPr>
              <a:t/>
            </a:r>
          </a:p>
          <a:p>
            <a:r>
              <a:rPr sz="1000">
                <a:solidFill>
                  <a:srgbClr val="1F2A44"/>
                </a:solidFill>
                <a:latin typeface="Menlo"/>
              </a:rPr>
              <a:t>OPTIONAL  ·  Python service  ── HTTPS ──▶  Anthropic API   (weekly briefing + explanations)</a:t>
            </a:r>
          </a:p>
          <a:p>
            <a:r>
              <a:rPr sz="1000">
                <a:solidFill>
                  <a:srgbClr val="1F2A44"/>
                </a:solidFill>
                <a:latin typeface="Menlo"/>
              </a:rPr>
              <a:t>             grounding-checked; falls back to deterministic template whenever unreachable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49240" y="54864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1F2A44"/>
                </a:solidFill>
              </a:rPr>
              <a:t>• Tiny footprint — the entire system fits in ~100 MB on your current server; no new hardware needed.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F2A44"/>
                </a:solidFill>
              </a:rPr>
              <a:t>• LLM cost: under $5 / month at Atlas volumes — and entirely optional.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1F2A44"/>
                </a:solidFill>
              </a:rPr>
              <a:t>• Why on-prem: unreliable internet + zero cloud budget + legal preference to keep ERP data on-site.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18/26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400">
                <a:solidFill>
                  <a:srgbClr val="FFFFFF"/>
                </a:solidFill>
              </a:rPr>
              <a:t>Build vs Buy Considerations</a:t>
            </a:r>
          </a:p>
          <a:p>
            <a:r>
              <a:rPr sz="1200">
                <a:solidFill>
                  <a:srgbClr val="F4F6F8"/>
                </a:solidFill>
              </a:rPr>
              <a:t>Build the thin orchestration; buy (rent, optionally) only the LLM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1161288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74458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Choice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Rationale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74458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Forecasting + reorder engine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BUILD — ~200 lines of Python (pandas, numpy)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Classical formulas; transparent; no recurring license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458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LLM for explanations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BUY/RENT — Anthropic API (claude-haiku-4-5), optional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&lt;$5/month; offline template fallback means zero hard dependency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74458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UI / dashboard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BUILD — Streamlit (open source)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Runs on-prem, LAN-only, no vendor lock-in, $0 license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458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Data store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BUILD — SQLite cache on the existing ERP server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No new infra; backup = copy one file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74458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Inventory-planning SaaS (e.g. NetSuite / SAP IBP)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REJECTED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Cloud-hosted; monthly license; overkill for 200–500 SKUs; does not respect the zero-budget / unreliable-internet constraints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45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Forecasting library (Prophet, statsforecast)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DEFERRED to Phase 2.5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Not needed for baseline; adds dependency weight; revisit for specific SKU segments only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19/26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400">
                <a:solidFill>
                  <a:srgbClr val="FFFFFF"/>
                </a:solidFill>
              </a:rPr>
              <a:t>Phased AI Roadmap</a:t>
            </a:r>
          </a:p>
          <a:p>
            <a:r>
              <a:rPr sz="1200">
                <a:solidFill>
                  <a:srgbClr val="F4F6F8"/>
                </a:solidFill>
              </a:rPr>
              <a:t>~4-month engagement; Phase-2 slot of the overall Atlas AI roadmap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28600" y="1188720"/>
          <a:ext cx="11731752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2938"/>
                <a:gridCol w="2932938"/>
                <a:gridCol w="2932938"/>
                <a:gridCol w="2932938"/>
              </a:tblGrid>
              <a:tr h="5892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Sprint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Weeks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Output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S0  Prerequisite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-4 →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Phase 0 cycle count; populate reorder-point fields in ERP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Trusted on-hand; ROP fields filled (GM + warehouse)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S1  Data extract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1–2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Read-only SQL extract into local SQLite; weekly refresh job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Scheduled extract, validated row counts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S2  Forecasting 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3–4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Moving avg + seasonality; historical backtest + tune baseline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Forecast module + per-SKU MAPE report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S3  Reorder engine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ROP + safety stock; replay past stockouts; integrate with forecast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Reorder module + list of past stockouts that would have been pre-flagged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S4  Streamlit UI + LLM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6–7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Dashboard / drilldown / what-if; LLM layer with template fallback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Usable app on the Atlas server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S5  UAT (paper-parallel)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8–9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System recs run alongside existing reactive process; decisions compared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Decision log; acceptance-rate evidence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S6  Go-live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System becomes authoritative; weekly review cadence starts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First weekly PO batch based on system recs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9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S7  Stabilization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11–16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Tune service levels per segment; add Croston for intermittent hardware if needed; monthly accuracy report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Tuned system; go/no-go on Phase 3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20/26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926080"/>
            <a:ext cx="1097280" cy="73152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4800">
                <a:solidFill>
                  <a:srgbClr val="FFFFFF"/>
                </a:solidFill>
              </a:rPr>
              <a:t>Commercial &amp; Pricing Considerations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400">
                <a:solidFill>
                  <a:srgbClr val="FFFFFF"/>
                </a:solidFill>
              </a:rPr>
              <a:t>Commercial &amp; Pricing Considerations</a:t>
            </a:r>
          </a:p>
          <a:p>
            <a:r>
              <a:rPr sz="1200">
                <a:solidFill>
                  <a:srgbClr val="F4F6F8"/>
                </a:solidFill>
              </a:rPr>
              <a:t>Zero-budget-compatible by design — the only hard cost is consultant time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Estimate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Consultant time (S0–S7)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8–12 person-weeks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Single consultant over ~4 months; principal AI / data eng.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Software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Python, Streamlit, pandas, numpy, SQLite — all open source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LLM API (optional)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&lt; $5 /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Claude Haiku; ~80 recs × ~200 tokens; entirely optional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Infrastructure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Runs on Atlas's existing on-prem server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 × half-day sessions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GM + procurement, covered during S5 UAT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Ongoing maintenance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≈1 day / month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Service-level tuning + monthly accuracy review; retainer or internal champion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212080" y="54864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A44"/>
                </a:solidFill>
              </a:rPr>
              <a:t>Internal time commitment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0058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GM: ~2 hrs/week during S5–S7; ~30 min/week steady state.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Procurement: ~2 hrs/week steady state (weekly review + PO placement).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Warehouse lead: sign-off on Phase 0 cycle count (one-time, ~1 week distributed).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22/26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400">
                <a:solidFill>
                  <a:srgbClr val="FFFFFF"/>
                </a:solidFill>
              </a:rPr>
              <a:t>Evaluation &amp; Validation Plan</a:t>
            </a:r>
          </a:p>
          <a:p>
            <a:r>
              <a:rPr sz="1200">
                <a:solidFill>
                  <a:srgbClr val="F4F6F8"/>
                </a:solidFill>
              </a:rPr>
              <a:t>Paper-parallel UAT → weekly metrics → monthly accuracy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4864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A44"/>
                </a:solidFill>
              </a:rPr>
              <a:t>Validation cadence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5669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S5 UAT: 2-week paper-parallel run — system recs produced alongside existing reactive process; decisions compared per SKU.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Backtest evidence: list of historical stockouts the system would have pre-flagged, with the PO date it would have suggested.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Weekly: forecast MAPE, acceptance rate, PO placement lead-time tracked automatically in the app.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Monthly: accuracy review with GM — service levels re-tuned per SKU segment; override patterns analyzed for parameter drift.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Quarterly: business review — stockout-days YoY, deadstock $ change, go/no-go on Phase 2.5 (Croston, advanced models).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097280"/>
            <a:ext cx="5394960" cy="530352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23444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2A44"/>
                </a:solidFill>
              </a:rPr>
              <a:t>MODEL &amp; PARAMETER CHANGE CONTROL</a:t>
            </a:r>
          </a:p>
          <a:p>
            <a:r>
              <a:rPr sz="1100">
                <a:solidFill>
                  <a:srgbClr val="5A6A7A"/>
                </a:solidFill>
              </a:rPr>
              <a:t>• Any change to forecasting parameters, service level, prompt template, or LLM model is version-controlled in the Python package.
• Monthly override review asks: are recent GM edits signalling parameter drift? If so, we re-fit — we do not silently ignore.
• Recommendation vs. final decision logged per SKU per week, with reason if overridden.
• Every explanation in the UI is labelled with its source ('llm' or 'template') so that the evaluation loop can detect LLM-path regressions.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23/26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400">
                <a:solidFill>
                  <a:srgbClr val="FFFFFF"/>
                </a:solidFill>
              </a:rPr>
              <a:t>Risk &amp; Ethics Checklist</a:t>
            </a:r>
          </a:p>
          <a:p>
            <a:r>
              <a:rPr sz="1200">
                <a:solidFill>
                  <a:srgbClr val="F4F6F8"/>
                </a:solidFill>
              </a:rPr>
              <a:t>Top operational risks + Module-12-aligned ethics posture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43000"/>
          <a:ext cx="116128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4963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Mitigation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R1. Inventory accuracy poor → wrong reorders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Phase 0 cycle count is a hard prerequisite for go-live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R2. Weak forecast on low-volume hardware (MAPE ~70%)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Service level + safety stock absorbs error by design; Croston in Phase 2.5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R3. Staff distrust the recommendations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2-week paper-parallel UAT creates evidence; plain-language 'why' aids adoption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R4. Connectivity drops disable LLM explanations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Deterministic template fallback runs fully offline with the same numbers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R5. FX / import volatility shifts lead times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Lead-time buffer % is a tunable UI parameter; monthly re-fit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R6. LLM hallucinates a number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Automated grounding check rejects any ungrounded figure → auto-fallback to deterministic template; source labeled in UI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274320" y="4754880"/>
            <a:ext cx="11612880" cy="173736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8920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2A44"/>
                </a:solidFill>
              </a:rPr>
              <a:t>ETHICS CHECKLIST (Module 12)</a:t>
            </a:r>
          </a:p>
          <a:p>
            <a:r>
              <a:rPr sz="1100">
                <a:solidFill>
                  <a:srgbClr val="5A6A7A"/>
                </a:solidFill>
              </a:rPr>
              <a:t>✓ Human-in-the-loop — system recommends, human places POs     ✓ No PII — product + supplier data only     ✓ Audit log — every rec + decision stored weekly
✓ LLM bounded — enforced grounding check; ungrounded output auto-falls back to template     ✓ Source-labelled output — 'llm' vs 'template' shown per explanation     ✓ Opt-out — LLM path is optional, fully offline mode is first-class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24/26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400">
                <a:solidFill>
                  <a:srgbClr val="FFFFFF"/>
                </a:solidFill>
              </a:rPr>
              <a:t>Key Decisions &amp; Next Steps</a:t>
            </a:r>
          </a:p>
          <a:p>
            <a:r>
              <a:rPr sz="1200">
                <a:solidFill>
                  <a:srgbClr val="F4F6F8"/>
                </a:solidFill>
              </a:rPr>
              <a:t>What Atlas needs to approve for S0–S1 to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4864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2A44"/>
                </a:solidFill>
              </a:rPr>
              <a:t>Decisions needed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05840"/>
            <a:ext cx="5669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Approve Phase 0 — inventory-accuracy cycle count on hardware top-80% (GM + warehouse).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Confirm consultant engagement S1–S4 (~8 person-weeks over 2 months).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Decide LLM opt-in: enable ANTHROPIC_API_KEY, or ship offline-template-only.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Agree weekly review cadence + named decision-makers (GM + procurement lead).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Sign off on the success criteria on slides 14 + 15 as the 12-month scorecard.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F2A44"/>
                </a:solidFill>
              </a:rPr>
              <a:t>• Schedule S5 UAT kick-off meeting (paper-parallel run with both processes).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097280"/>
            <a:ext cx="5394960" cy="530352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23444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2A44"/>
                </a:solidFill>
              </a:rPr>
              <a:t>FIRST 30 DAYS IF APPROVED</a:t>
            </a:r>
          </a:p>
          <a:p>
            <a:r>
              <a:rPr sz="1100">
                <a:solidFill>
                  <a:srgbClr val="5A6A7A"/>
                </a:solidFill>
              </a:rPr>
              <a:t>Week 1 — Kick-off; ERP extract permissions confirmed; Phase 0 cycle count begins on hardware top-80% SKUs.
Week 2 — Scheduled weekly SQL extract running; SQLite cache validated; 10-yr history ingested.
Week 3 — Forecasting module v1 on real data; first MAPE-by-segment report shared with GM.
Week 4 — Reorder engine integrated; historical-stockout replay presented to GM as evidence ahead of S4 UI build.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</a:rPr>
              <a:t>Atlas Paints &amp; Tools — AI Transformation Proposal  ·  25/26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9728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solidFill>
                  <a:srgbClr val="FFFFFF"/>
                </a:solidFill>
              </a:rPr>
              <a:t>Thank You!</a:t>
            </a:r>
          </a:p>
          <a:p>
            <a:r>
              <a:rPr sz="1600">
                <a:solidFill>
                  <a:srgbClr val="E67E22"/>
                </a:solidFill>
              </a:rPr>
              <a:t>Karim Khalifeh  ·  ZAKA Certified AI Consultant  ·  April 2026</a:t>
            </a:r>
          </a:p>
          <a:p>
            <a:r>
              <a:rPr sz="1400">
                <a:solidFill>
                  <a:srgbClr val="F4F6F8"/>
                </a:solidFill>
              </a:rPr>
              <a:t>Questions &amp; discussion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